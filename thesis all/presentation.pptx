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2" name="Author and Date"/>
          <p:cNvSpPr txBox="1"/>
          <p:nvPr>
            <p:ph type="body" sz="quarter" idx="21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wo jellyfish touching against a dark blue backgro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348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wo jellyfish against a blue background"/>
          <p:cNvSpPr/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wo jellyfish against a pink background"/>
          <p:cNvSpPr/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Slide Subtitle"/>
          <p:cNvSpPr txBox="1"/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457200" defTabSz="825500">
              <a:buClrTx/>
              <a:buSzTx/>
              <a:buNone/>
              <a:defRPr spc="-55" sz="5500"/>
            </a:lvl2pPr>
            <a:lvl3pPr marL="0" indent="914400" defTabSz="825500">
              <a:buClrTx/>
              <a:buSzTx/>
              <a:buNone/>
              <a:defRPr spc="-55" sz="5500"/>
            </a:lvl3pPr>
            <a:lvl4pPr marL="0" indent="1371600" defTabSz="825500">
              <a:buClrTx/>
              <a:buSzTx/>
              <a:buNone/>
              <a:defRPr spc="-55" sz="5500"/>
            </a:lvl4pPr>
            <a:lvl5pPr marL="0" indent="1828800" defTabSz="825500">
              <a:buClrTx/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wo jellyfish against a pink background"/>
          <p:cNvSpPr/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Two jellyfish touching against a dark blue background"/>
          <p:cNvSpPr/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Two jellyfish against a blue background"/>
          <p:cNvSpPr/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wo jellyfish touching against a dark blue backgro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5500">
              <a:spcBef>
                <a:spcPts val="0"/>
              </a:spcBef>
              <a:defRPr sz="2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doi.org/10.1016/j.ememar.2017.09.001" TargetMode="Externa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doi.org/10.1016/j.procs.2013.09.200" TargetMode="External"/><Relationship Id="rId4" Type="http://schemas.openxmlformats.org/officeDocument/2006/relationships/hyperlink" Target="https://doi.org/10.1177/097226290701100303" TargetMode="External"/><Relationship Id="rId5" Type="http://schemas.openxmlformats.org/officeDocument/2006/relationships/hyperlink" Target="https://doi.org/10.13140/RG.2.2.32348.31363" TargetMode="Externa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asted-movie.png" descr="pasted-movie.png"/>
          <p:cNvPicPr>
            <a:picLocks noChangeAspect="1"/>
          </p:cNvPicPr>
          <p:nvPr/>
        </p:nvPicPr>
        <p:blipFill>
          <a:blip r:embed="rId2">
            <a:alphaModFix amt="30914"/>
            <a:extLst/>
          </a:blip>
          <a:stretch>
            <a:fillRect/>
          </a:stretch>
        </p:blipFill>
        <p:spPr>
          <a:xfrm>
            <a:off x="-1341874" y="-1085850"/>
            <a:ext cx="27000629" cy="16347026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PREDICTION ACCURAY OF CANDLESTICKS"/>
          <p:cNvSpPr txBox="1"/>
          <p:nvPr>
            <p:ph type="ctrTitle"/>
          </p:nvPr>
        </p:nvSpPr>
        <p:spPr>
          <a:xfrm>
            <a:off x="-43198" y="2745898"/>
            <a:ext cx="24428676" cy="1738413"/>
          </a:xfrm>
          <a:prstGeom prst="rect">
            <a:avLst/>
          </a:prstGeom>
        </p:spPr>
        <p:txBody>
          <a:bodyPr/>
          <a:lstStyle>
            <a:lvl1pPr>
              <a:defRPr spc="-239" sz="8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PREDICTION ACCURAY OF CANDLESTICKS</a:t>
            </a:r>
          </a:p>
        </p:txBody>
      </p:sp>
      <p:sp>
        <p:nvSpPr>
          <p:cNvPr id="173" name="PRESENTED BY…"/>
          <p:cNvSpPr txBox="1"/>
          <p:nvPr>
            <p:ph type="body" idx="21"/>
          </p:nvPr>
        </p:nvSpPr>
        <p:spPr>
          <a:xfrm>
            <a:off x="0" y="9813596"/>
            <a:ext cx="24384001" cy="33468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PRESENTED BY</a:t>
            </a:r>
          </a:p>
          <a:p>
            <a:pPr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LAXMAN BHATTARAI</a:t>
            </a:r>
            <a:br/>
            <a:r>
              <a:t>Roll No: 24094002</a:t>
            </a:r>
          </a:p>
        </p:txBody>
      </p:sp>
      <p:sp>
        <p:nvSpPr>
          <p:cNvPr id="174" name="IN NEPALI  STOCK MARKET"/>
          <p:cNvSpPr txBox="1"/>
          <p:nvPr>
            <p:ph type="subTitle" sz="quarter" idx="1"/>
          </p:nvPr>
        </p:nvSpPr>
        <p:spPr>
          <a:xfrm>
            <a:off x="0" y="4614495"/>
            <a:ext cx="24384001" cy="1930805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180" sz="6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IN NEPALI  STOCK MARKET</a:t>
            </a:r>
          </a:p>
        </p:txBody>
      </p:sp>
      <p:sp>
        <p:nvSpPr>
          <p:cNvPr id="175" name="A Graduate Research Report"/>
          <p:cNvSpPr txBox="1"/>
          <p:nvPr/>
        </p:nvSpPr>
        <p:spPr>
          <a:xfrm>
            <a:off x="-121909" y="1371601"/>
            <a:ext cx="24560698" cy="812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457200">
              <a:lnSpc>
                <a:spcPct val="150000"/>
              </a:lnSpc>
              <a:spcBef>
                <a:spcPts val="800"/>
              </a:spcBef>
              <a:defRPr sz="4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uFill>
                  <a:solidFill>
                    <a:srgbClr val="000000"/>
                  </a:solidFill>
                </a:u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>
              <a:defRPr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A Graduate Research Report</a:t>
            </a:r>
          </a:p>
        </p:txBody>
      </p:sp>
      <p:sp>
        <p:nvSpPr>
          <p:cNvPr id="176" name="on"/>
          <p:cNvSpPr txBox="1"/>
          <p:nvPr/>
        </p:nvSpPr>
        <p:spPr>
          <a:xfrm>
            <a:off x="-109209" y="2120901"/>
            <a:ext cx="24560698" cy="812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457200">
              <a:lnSpc>
                <a:spcPct val="150000"/>
              </a:lnSpc>
              <a:spcBef>
                <a:spcPts val="800"/>
              </a:spcBef>
              <a:defRPr sz="4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uFill>
                  <a:solidFill>
                    <a:srgbClr val="000000"/>
                  </a:solidFill>
                </a:u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>
              <a:defRPr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on</a:t>
            </a:r>
          </a:p>
        </p:txBody>
      </p:sp>
      <p:sp>
        <p:nvSpPr>
          <p:cNvPr id="177" name="MID-WEST UNIVERSITY SCHOOL OF MANAGEMENT (MUSOM)"/>
          <p:cNvSpPr txBox="1"/>
          <p:nvPr/>
        </p:nvSpPr>
        <p:spPr>
          <a:xfrm>
            <a:off x="4516596" y="12426825"/>
            <a:ext cx="15283689" cy="812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50000"/>
              </a:lnSpc>
              <a:spcBef>
                <a:spcPts val="800"/>
              </a:spcBef>
              <a:defRPr sz="4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uFill>
                  <a:solidFill>
                    <a:srgbClr val="000000"/>
                  </a:solidFill>
                </a:u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>
              <a:defRPr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MID-WEST UNIVERSITY SCHOOL OF MANAGEMENT (MUSOM)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744594" y="-8556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Abstract"/>
          <p:cNvSpPr txBox="1"/>
          <p:nvPr>
            <p:ph type="ctrTitle"/>
          </p:nvPr>
        </p:nvSpPr>
        <p:spPr>
          <a:xfrm>
            <a:off x="3555482" y="52826"/>
            <a:ext cx="20817923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Abstract</a:t>
            </a:r>
          </a:p>
        </p:txBody>
      </p:sp>
      <p:sp>
        <p:nvSpPr>
          <p:cNvPr id="181" name="Evaluate predictive power of candlesticks (Hammer, Inverted Hammer, Hanging Man, Shooting Star)…"/>
          <p:cNvSpPr txBox="1"/>
          <p:nvPr>
            <p:ph type="body" idx="21"/>
          </p:nvPr>
        </p:nvSpPr>
        <p:spPr>
          <a:xfrm>
            <a:off x="2739727" y="3056741"/>
            <a:ext cx="20680661" cy="99259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1164166" indent="-1164166" algn="l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/>
              <a:t>Evaluate predictive power of candlesticks</a:t>
            </a:r>
            <a:br>
              <a:rPr sz="1200"/>
            </a:br>
            <a:r>
              <a:rPr sz="1200"/>
              <a:t>(Hammer, Inverted Hammer, Hanging Man, Shooting Star)</a:t>
            </a:r>
            <a:r>
              <a:t> </a:t>
            </a:r>
          </a:p>
          <a:p>
            <a:pPr marL="698500" indent="-698500" algn="l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Bullish/bearish conditions</a:t>
            </a:r>
          </a:p>
          <a:p>
            <a:pPr marL="1164166" indent="-1164166" algn="l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/>
              <a:t>5 Sectors </a:t>
            </a:r>
            <a:r>
              <a:rPr sz="1200"/>
              <a:t>(Banking, Hydropower, Microfinance, Expensive Stocks, Low-Float Stocks)</a:t>
            </a:r>
            <a:r>
              <a:t> </a:t>
            </a:r>
          </a:p>
          <a:p>
            <a:pPr marL="1164166" indent="-1164166" algn="l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/>
              <a:t>Historical NEPSE price data</a:t>
            </a:r>
          </a:p>
          <a:p>
            <a:pPr marL="698500" indent="-698500" algn="l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Algorithmic pattern detection</a:t>
            </a:r>
          </a:p>
          <a:p>
            <a:pPr marL="698500" indent="-698500" algn="l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Comparing Candlestick vs random strategy</a:t>
            </a:r>
          </a:p>
          <a:p>
            <a:pPr marL="698500" indent="-698500" algn="l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Success rate, Return rate   </a:t>
            </a:r>
          </a:p>
          <a:p>
            <a:pPr marL="698500" indent="-698500" algn="l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Median vs P-value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300094" y="-809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Abstract"/>
          <p:cNvSpPr txBox="1"/>
          <p:nvPr>
            <p:ph type="ctrTitle"/>
          </p:nvPr>
        </p:nvSpPr>
        <p:spPr>
          <a:xfrm>
            <a:off x="3513082" y="52826"/>
            <a:ext cx="20987323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Abstract</a:t>
            </a:r>
          </a:p>
        </p:txBody>
      </p:sp>
      <p:sp>
        <p:nvSpPr>
          <p:cNvPr id="185" name="Hammer: Upto 79% success rate  (bullish markets, High-price prediction)…"/>
          <p:cNvSpPr txBox="1"/>
          <p:nvPr>
            <p:ph type="body" idx="21"/>
          </p:nvPr>
        </p:nvSpPr>
        <p:spPr>
          <a:xfrm>
            <a:off x="2739727" y="3056741"/>
            <a:ext cx="19929773" cy="99259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1094316" indent="-1094316" algn="l" defTabSz="775969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82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700">
                <a:latin typeface="Poppins ExtraBold"/>
                <a:ea typeface="Poppins ExtraBold"/>
                <a:cs typeface="Poppins ExtraBold"/>
                <a:sym typeface="Poppins ExtraBold"/>
              </a:rPr>
              <a:t>Hammer:</a:t>
            </a:r>
            <a:r>
              <a:rPr sz="4700"/>
              <a:t> </a:t>
            </a:r>
            <a:r>
              <a:rPr sz="4700">
                <a:latin typeface="Poppins Medium"/>
                <a:ea typeface="Poppins Medium"/>
                <a:cs typeface="Poppins Medium"/>
                <a:sym typeface="Poppins Medium"/>
              </a:rPr>
              <a:t>Upto 79% success rate  </a:t>
            </a:r>
            <a:r>
              <a:rPr sz="1128">
                <a:latin typeface="Poppins Medium"/>
                <a:ea typeface="Poppins Medium"/>
                <a:cs typeface="Poppins Medium"/>
                <a:sym typeface="Poppins Medium"/>
              </a:rPr>
              <a:t>(bullish markets, High-price prediction)</a:t>
            </a:r>
            <a:endParaRPr sz="1128"/>
          </a:p>
          <a:p>
            <a:pPr marL="1094316" indent="-1094316" algn="l" defTabSz="775969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82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700">
                <a:latin typeface="Poppins ExtraBold"/>
                <a:ea typeface="Poppins ExtraBold"/>
                <a:cs typeface="Poppins ExtraBold"/>
                <a:sym typeface="Poppins ExtraBold"/>
              </a:rPr>
              <a:t>Shooting Star:</a:t>
            </a:r>
            <a:r>
              <a:rPr sz="4700"/>
              <a:t> </a:t>
            </a:r>
            <a:r>
              <a:rPr sz="4700">
                <a:latin typeface="Poppins Medium"/>
                <a:ea typeface="Poppins Medium"/>
                <a:cs typeface="Poppins Medium"/>
                <a:sym typeface="Poppins Medium"/>
              </a:rPr>
              <a:t>Upto 84% success rate  </a:t>
            </a:r>
            <a:r>
              <a:rPr sz="1128">
                <a:latin typeface="Poppins Medium"/>
                <a:ea typeface="Poppins Medium"/>
                <a:cs typeface="Poppins Medium"/>
                <a:sym typeface="Poppins Medium"/>
              </a:rPr>
              <a:t>(bearish markets, Low-price prediction)</a:t>
            </a:r>
            <a:endParaRPr sz="1128"/>
          </a:p>
          <a:p>
            <a:pPr marL="656590" indent="-656590" algn="l" defTabSz="775969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47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Medium"/>
                <a:ea typeface="Poppins Medium"/>
                <a:cs typeface="Poppins Medium"/>
                <a:sym typeface="Poppins Medium"/>
              </a:defRPr>
            </a:pPr>
            <a:r>
              <a:rPr>
                <a:latin typeface="Poppins ExtraBold"/>
                <a:ea typeface="Poppins ExtraBold"/>
                <a:cs typeface="Poppins ExtraBold"/>
                <a:sym typeface="Poppins ExtraBold"/>
              </a:rPr>
              <a:t>Banking</a:t>
            </a:r>
            <a:r>
              <a:t> </a:t>
            </a:r>
            <a:r>
              <a:rPr sz="1128"/>
              <a:t>(high liquidity)</a:t>
            </a:r>
            <a:r>
              <a:rPr>
                <a:latin typeface="Poppins ExtraBold"/>
                <a:ea typeface="Poppins ExtraBold"/>
                <a:cs typeface="Poppins ExtraBold"/>
                <a:sym typeface="Poppins ExtraBold"/>
              </a:rPr>
              <a:t>:</a:t>
            </a:r>
            <a:r>
              <a:t> Favored Hammer accuracy</a:t>
            </a:r>
          </a:p>
          <a:p>
            <a:pPr marL="656590" indent="-656590" algn="l" defTabSz="775969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47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>
                <a:latin typeface="Poppins ExtraBold"/>
                <a:ea typeface="Poppins ExtraBold"/>
                <a:cs typeface="Poppins ExtraBold"/>
                <a:sym typeface="Poppins ExtraBold"/>
              </a:rPr>
              <a:t>Low-Float Stocks:</a:t>
            </a:r>
            <a:r>
              <a:t> </a:t>
            </a:r>
            <a:r>
              <a:rPr>
                <a:latin typeface="Poppins Medium"/>
                <a:ea typeface="Poppins Medium"/>
                <a:cs typeface="Poppins Medium"/>
                <a:sym typeface="Poppins Medium"/>
              </a:rPr>
              <a:t>Amplified Shooting Star reliability.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656590" indent="-656590" algn="l" defTabSz="775969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47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>
                <a:latin typeface="Poppins ExtraBold"/>
                <a:ea typeface="Poppins ExtraBold"/>
                <a:cs typeface="Poppins ExtraBold"/>
                <a:sym typeface="Poppins ExtraBold"/>
              </a:rPr>
              <a:t>Closing Prices: </a:t>
            </a:r>
            <a:r>
              <a:rPr>
                <a:latin typeface="Poppins Medium"/>
                <a:ea typeface="Poppins Medium"/>
                <a:cs typeface="Poppins Medium"/>
                <a:sym typeface="Poppins Medium"/>
              </a:rPr>
              <a:t>Unpredictable</a:t>
            </a:r>
            <a:r>
              <a:rPr sz="1128">
                <a:latin typeface="Poppins Medium"/>
                <a:ea typeface="Poppins Medium"/>
                <a:cs typeface="Poppins Medium"/>
                <a:sym typeface="Poppins Medium"/>
              </a:rPr>
              <a:t> (across all sector, candlestick, liquidity and trend)</a:t>
            </a:r>
            <a:endParaRPr sz="1128"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656590" indent="-656590" algn="l" defTabSz="775969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47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Efficacy worsens beyond 8 days</a:t>
            </a:r>
          </a:p>
          <a:p>
            <a:pPr marL="656590" indent="-656590" algn="l" defTabSz="775969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47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Medium"/>
                <a:ea typeface="Poppins Medium"/>
                <a:cs typeface="Poppins Medium"/>
                <a:sym typeface="Poppins Medium"/>
              </a:defRPr>
            </a:pP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Prioritize</a:t>
            </a:r>
            <a:r>
              <a:t> </a:t>
            </a: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Hammer</a:t>
            </a:r>
            <a:r>
              <a:t> in </a:t>
            </a: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upward</a:t>
            </a:r>
            <a:r>
              <a:t> trend</a:t>
            </a:r>
          </a:p>
          <a:p>
            <a:pPr marL="656590" indent="-656590" algn="l" defTabSz="775969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47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Medium"/>
                <a:ea typeface="Poppins Medium"/>
                <a:cs typeface="Poppins Medium"/>
                <a:sym typeface="Poppins Medium"/>
              </a:defRPr>
            </a:pP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Prioritize</a:t>
            </a:r>
            <a:r>
              <a:t> </a:t>
            </a: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Shooting Star</a:t>
            </a:r>
            <a:r>
              <a:t> in </a:t>
            </a: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downward</a:t>
            </a:r>
            <a:r>
              <a:t> trend</a:t>
            </a:r>
          </a:p>
          <a:p>
            <a:pPr marL="656590" indent="-656590" algn="l" defTabSz="775969">
              <a:lnSpc>
                <a:spcPct val="120000"/>
              </a:lnSpc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47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Medium"/>
                <a:ea typeface="Poppins Medium"/>
                <a:cs typeface="Poppins Medium"/>
                <a:sym typeface="Poppins Medium"/>
              </a:defRPr>
            </a:pP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Avoid</a:t>
            </a:r>
            <a:r>
              <a:t> </a:t>
            </a: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Closing prices, Inverted Hammer </a:t>
            </a:r>
            <a:r>
              <a:t>&amp; </a:t>
            </a:r>
            <a:r>
              <a:rPr>
                <a:latin typeface="Poppins Bold"/>
                <a:ea typeface="Poppins Bold"/>
                <a:cs typeface="Poppins Bold"/>
                <a:sym typeface="Poppins Bold"/>
              </a:rPr>
              <a:t>Hanging Man</a:t>
            </a:r>
            <a:endParaRPr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3233794" y="-936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Background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Background </a:t>
            </a:r>
          </a:p>
        </p:txBody>
      </p:sp>
      <p:sp>
        <p:nvSpPr>
          <p:cNvPr id="189" name="Dow Theory(Explains volume supporting trends, long, medium and short term trends, prices aren’t random, every market variable is counted in price)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Dow Theory</a:t>
            </a:r>
            <a:r>
              <a:rPr sz="1200">
                <a:latin typeface="Poppins ExtraBold"/>
                <a:ea typeface="Poppins ExtraBold"/>
                <a:cs typeface="Poppins ExtraBold"/>
                <a:sym typeface="Poppins ExtraBold"/>
              </a:rPr>
              <a:t>(Explains volume supporting trends, long, medium and short term trends, prices aren’t random, every market variable is counted in price)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Elliott Wave Theory</a:t>
            </a:r>
            <a:r>
              <a:rPr sz="1200">
                <a:latin typeface="Poppins ExtraBold"/>
                <a:ea typeface="Poppins ExtraBold"/>
                <a:cs typeface="Poppins ExtraBold"/>
                <a:sym typeface="Poppins ExtraBold"/>
              </a:rPr>
              <a:t>(Is based on dow theory and tells market trends follow repetitive wave trends)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Candlestick origin: 18th century, Japan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Popularized by Steve Nison (1991) in West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Upto 65% success in US market</a:t>
            </a:r>
            <a:r>
              <a:rPr sz="1200">
                <a:latin typeface="Poppins ExtraBold"/>
                <a:ea typeface="Poppins ExtraBold"/>
                <a:cs typeface="Poppins ExtraBold"/>
                <a:sym typeface="Poppins ExtraBold"/>
              </a:rPr>
              <a:t>(Bulkowski 2021)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More useful on high retail markets</a:t>
            </a:r>
          </a:p>
        </p:txBody>
      </p:sp>
      <p:pic>
        <p:nvPicPr>
          <p:cNvPr id="190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3233794" y="-93618"/>
            <a:ext cx="28742262" cy="174014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4783194" y="-2201507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Background (Candles)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Background (Candles)</a:t>
            </a:r>
          </a:p>
        </p:txBody>
      </p:sp>
      <p:sp>
        <p:nvSpPr>
          <p:cNvPr id="194" name="Line"/>
          <p:cNvSpPr/>
          <p:nvPr/>
        </p:nvSpPr>
        <p:spPr>
          <a:xfrm flipV="1">
            <a:off x="2590800" y="4033814"/>
            <a:ext cx="1" cy="528642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5" name="H"/>
          <p:cNvSpPr txBox="1"/>
          <p:nvPr/>
        </p:nvSpPr>
        <p:spPr>
          <a:xfrm>
            <a:off x="2310841" y="2951481"/>
            <a:ext cx="559918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96" name="L"/>
          <p:cNvSpPr txBox="1"/>
          <p:nvPr/>
        </p:nvSpPr>
        <p:spPr>
          <a:xfrm>
            <a:off x="2388260" y="9447531"/>
            <a:ext cx="405080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97" name="Hammer"/>
          <p:cNvSpPr txBox="1"/>
          <p:nvPr/>
        </p:nvSpPr>
        <p:spPr>
          <a:xfrm>
            <a:off x="1062685" y="10793731"/>
            <a:ext cx="2901392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Hammer</a:t>
            </a:r>
          </a:p>
        </p:txBody>
      </p:sp>
      <p:sp>
        <p:nvSpPr>
          <p:cNvPr id="198" name="Line"/>
          <p:cNvSpPr/>
          <p:nvPr/>
        </p:nvSpPr>
        <p:spPr>
          <a:xfrm flipV="1">
            <a:off x="7901432" y="4084613"/>
            <a:ext cx="1" cy="528642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9" name="H"/>
          <p:cNvSpPr txBox="1"/>
          <p:nvPr/>
        </p:nvSpPr>
        <p:spPr>
          <a:xfrm>
            <a:off x="7621473" y="3002281"/>
            <a:ext cx="559918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200" name="L"/>
          <p:cNvSpPr txBox="1"/>
          <p:nvPr/>
        </p:nvSpPr>
        <p:spPr>
          <a:xfrm>
            <a:off x="7698892" y="9498331"/>
            <a:ext cx="405080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201" name="I. Hammer"/>
          <p:cNvSpPr txBox="1"/>
          <p:nvPr/>
        </p:nvSpPr>
        <p:spPr>
          <a:xfrm>
            <a:off x="6373317" y="10844531"/>
            <a:ext cx="3382366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I. Hammer</a:t>
            </a:r>
          </a:p>
        </p:txBody>
      </p:sp>
      <p:sp>
        <p:nvSpPr>
          <p:cNvPr id="202" name="Line"/>
          <p:cNvSpPr/>
          <p:nvPr/>
        </p:nvSpPr>
        <p:spPr>
          <a:xfrm flipV="1">
            <a:off x="13538200" y="4008413"/>
            <a:ext cx="1" cy="528642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3" name="H"/>
          <p:cNvSpPr txBox="1"/>
          <p:nvPr/>
        </p:nvSpPr>
        <p:spPr>
          <a:xfrm>
            <a:off x="13258241" y="2926081"/>
            <a:ext cx="559918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204" name="L"/>
          <p:cNvSpPr txBox="1"/>
          <p:nvPr/>
        </p:nvSpPr>
        <p:spPr>
          <a:xfrm>
            <a:off x="13335660" y="9422131"/>
            <a:ext cx="405080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205" name="Shooting Star"/>
          <p:cNvSpPr txBox="1"/>
          <p:nvPr/>
        </p:nvSpPr>
        <p:spPr>
          <a:xfrm>
            <a:off x="12010085" y="10768331"/>
            <a:ext cx="4355288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Shooting Star</a:t>
            </a:r>
          </a:p>
        </p:txBody>
      </p:sp>
      <p:sp>
        <p:nvSpPr>
          <p:cNvPr id="206" name="Line"/>
          <p:cNvSpPr/>
          <p:nvPr/>
        </p:nvSpPr>
        <p:spPr>
          <a:xfrm flipV="1">
            <a:off x="19962774" y="3856013"/>
            <a:ext cx="1" cy="528642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7" name="H"/>
          <p:cNvSpPr txBox="1"/>
          <p:nvPr/>
        </p:nvSpPr>
        <p:spPr>
          <a:xfrm>
            <a:off x="19682815" y="2773681"/>
            <a:ext cx="559918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208" name="L"/>
          <p:cNvSpPr txBox="1"/>
          <p:nvPr/>
        </p:nvSpPr>
        <p:spPr>
          <a:xfrm>
            <a:off x="19760234" y="9269731"/>
            <a:ext cx="405080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209" name="Hanging Man"/>
          <p:cNvSpPr txBox="1"/>
          <p:nvPr/>
        </p:nvSpPr>
        <p:spPr>
          <a:xfrm>
            <a:off x="18434659" y="10615931"/>
            <a:ext cx="4316884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Hanging Man</a:t>
            </a:r>
          </a:p>
        </p:txBody>
      </p:sp>
      <p:sp>
        <p:nvSpPr>
          <p:cNvPr id="210" name="O"/>
          <p:cNvSpPr txBox="1"/>
          <p:nvPr/>
        </p:nvSpPr>
        <p:spPr>
          <a:xfrm>
            <a:off x="703325" y="5615306"/>
            <a:ext cx="593447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211" name="C"/>
          <p:cNvSpPr txBox="1"/>
          <p:nvPr/>
        </p:nvSpPr>
        <p:spPr>
          <a:xfrm>
            <a:off x="710641" y="4069081"/>
            <a:ext cx="578816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12" name="Rectangle"/>
          <p:cNvSpPr/>
          <p:nvPr/>
        </p:nvSpPr>
        <p:spPr>
          <a:xfrm>
            <a:off x="1955800" y="4394200"/>
            <a:ext cx="1270000" cy="177641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213" name="O"/>
          <p:cNvSpPr txBox="1"/>
          <p:nvPr/>
        </p:nvSpPr>
        <p:spPr>
          <a:xfrm>
            <a:off x="6062725" y="8206106"/>
            <a:ext cx="593447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214" name="C"/>
          <p:cNvSpPr txBox="1"/>
          <p:nvPr/>
        </p:nvSpPr>
        <p:spPr>
          <a:xfrm>
            <a:off x="6070041" y="6659881"/>
            <a:ext cx="578816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15" name="Rectangle"/>
          <p:cNvSpPr/>
          <p:nvPr/>
        </p:nvSpPr>
        <p:spPr>
          <a:xfrm>
            <a:off x="7266432" y="7137400"/>
            <a:ext cx="1270001" cy="177641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216" name="O"/>
          <p:cNvSpPr txBox="1"/>
          <p:nvPr/>
        </p:nvSpPr>
        <p:spPr>
          <a:xfrm>
            <a:off x="11895277" y="6659881"/>
            <a:ext cx="593446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217" name="C"/>
          <p:cNvSpPr txBox="1"/>
          <p:nvPr/>
        </p:nvSpPr>
        <p:spPr>
          <a:xfrm>
            <a:off x="11902592" y="8339799"/>
            <a:ext cx="578816" cy="955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18" name="Rectangle"/>
          <p:cNvSpPr/>
          <p:nvPr/>
        </p:nvSpPr>
        <p:spPr>
          <a:xfrm>
            <a:off x="12903200" y="7137400"/>
            <a:ext cx="1270001" cy="1776413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219" name="O"/>
          <p:cNvSpPr txBox="1"/>
          <p:nvPr/>
        </p:nvSpPr>
        <p:spPr>
          <a:xfrm>
            <a:off x="17864277" y="3902507"/>
            <a:ext cx="593446" cy="955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220" name="C"/>
          <p:cNvSpPr txBox="1"/>
          <p:nvPr/>
        </p:nvSpPr>
        <p:spPr>
          <a:xfrm>
            <a:off x="17871592" y="5582424"/>
            <a:ext cx="578816" cy="95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21" name="Rectangle"/>
          <p:cNvSpPr/>
          <p:nvPr/>
        </p:nvSpPr>
        <p:spPr>
          <a:xfrm>
            <a:off x="19327774" y="4088958"/>
            <a:ext cx="1270001" cy="1776413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Class="entr" nodeType="after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Class="entr" nodeType="afterEffect" presetSubtype="4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Class="entr" nodeType="afterEffect" presetSubtype="4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Class="entr" nodeType="afterEffect" presetSubtype="4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Class="entr" nodeType="afterEffect" presetSubtype="4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Class="entr" nodeType="afterEffect" presetSubtype="4" presetID="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Class="entr" nodeType="afterEffect" presetSubtype="4" presetID="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Class="entr" nodeType="afterEffect" presetSubtype="4" presetID="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Class="entr" nodeType="afterEffect" presetSubtype="4" presetID="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0"/>
                            </p:stCondLst>
                            <p:childTnLst>
                              <p:par>
                                <p:cTn id="60" presetClass="entr" nodeType="afterEffect" presetSubtype="4" presetID="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0"/>
                            </p:stCondLst>
                            <p:childTnLst>
                              <p:par>
                                <p:cTn id="65" presetClass="entr" nodeType="afterEffect" presetSubtype="4" presetID="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3000"/>
                            </p:stCondLst>
                            <p:childTnLst>
                              <p:par>
                                <p:cTn id="70" presetClass="entr" nodeType="afterEffect" presetSubtype="4" presetID="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0"/>
                            </p:stCondLst>
                            <p:childTnLst>
                              <p:par>
                                <p:cTn id="75" presetClass="entr" nodeType="afterEffect" presetSubtype="4" presetID="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0"/>
                            </p:stCondLst>
                            <p:childTnLst>
                              <p:par>
                                <p:cTn id="80" presetClass="entr" nodeType="afterEffect" presetSubtype="4" presetID="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Class="entr" nodeType="clickEffect" presetSubtype="4" presetID="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Class="entr" nodeType="clickEffect" presetSubtype="4" presetID="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Class="entr" nodeType="clickEffect" presetSubtype="4" presetID="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Class="entr" nodeType="clickEffect" presetSubtype="4" presetID="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Class="entr" nodeType="clickEffect" presetSubtype="4" presetID="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Class="entr" nodeType="clickEffect" presetSubtype="4" presetID="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Class="entr" nodeType="clickEffect" presetSubtype="4" presetID="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Class="entr" nodeType="clickEffect" presetSubtype="4" presetID="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Class="entr" nodeType="clickEffect" presetSubtype="4" presetID="2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Class="entr" nodeType="clickEffect" presetSubtype="4" presetID="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Class="entr" nodeType="clickEffect" presetSubtype="4" presetID="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Class="entr" nodeType="clickEffect" presetSubtype="4" presetID="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5" grpId="14"/>
      <p:bldP build="whole" bldLvl="1" animBg="1" rev="0" advAuto="0" spid="216" grpId="24"/>
      <p:bldP build="whole" bldLvl="1" animBg="1" rev="0" advAuto="0" spid="201" grpId="16"/>
      <p:bldP build="whole" bldLvl="1" animBg="1" rev="0" advAuto="0" spid="206" grpId="5"/>
      <p:bldP build="whole" bldLvl="1" animBg="1" rev="0" advAuto="0" spid="195" grpId="3"/>
      <p:bldP build="whole" bldLvl="1" animBg="1" rev="0" advAuto="0" spid="211" grpId="17"/>
      <p:bldP build="whole" bldLvl="1" animBg="1" rev="0" advAuto="0" spid="219" grpId="27"/>
      <p:bldP build="whole" bldLvl="1" animBg="1" rev="0" advAuto="0" spid="210" grpId="18"/>
      <p:bldP build="whole" bldLvl="1" animBg="1" rev="0" advAuto="0" spid="208" grpId="9"/>
      <p:bldP build="whole" bldLvl="1" animBg="1" rev="0" advAuto="0" spid="221" grpId="28"/>
      <p:bldP build="whole" bldLvl="1" animBg="1" rev="0" advAuto="0" spid="212" grpId="19"/>
      <p:bldP build="whole" bldLvl="1" animBg="1" rev="0" advAuto="0" spid="199" grpId="4"/>
      <p:bldP build="whole" bldLvl="1" animBg="1" rev="0" advAuto="0" spid="215" grpId="22"/>
      <p:bldP build="whole" bldLvl="1" animBg="1" rev="0" advAuto="0" spid="194" grpId="7"/>
      <p:bldP build="whole" bldLvl="1" animBg="1" rev="0" advAuto="0" spid="203" grpId="2"/>
      <p:bldP build="whole" bldLvl="1" animBg="1" rev="0" advAuto="0" spid="197" grpId="15"/>
      <p:bldP build="whole" bldLvl="1" animBg="1" rev="0" advAuto="0" spid="202" grpId="6"/>
      <p:bldP build="whole" bldLvl="1" animBg="1" rev="0" advAuto="0" spid="214" grpId="20"/>
      <p:bldP build="whole" bldLvl="1" animBg="1" rev="0" advAuto="0" spid="204" grpId="10"/>
      <p:bldP build="whole" bldLvl="1" animBg="1" rev="0" advAuto="0" spid="220" grpId="26"/>
      <p:bldP build="whole" bldLvl="1" animBg="1" rev="0" advAuto="0" spid="196" grpId="11"/>
      <p:bldP build="whole" bldLvl="1" animBg="1" rev="0" advAuto="0" spid="200" grpId="12"/>
      <p:bldP build="whole" bldLvl="1" animBg="1" rev="0" advAuto="0" spid="207" grpId="1"/>
      <p:bldP build="whole" bldLvl="1" animBg="1" rev="0" advAuto="0" spid="217" grpId="23"/>
      <p:bldP build="whole" bldLvl="1" animBg="1" rev="0" advAuto="0" spid="198" grpId="8"/>
      <p:bldP build="whole" bldLvl="1" animBg="1" rev="0" advAuto="0" spid="209" grpId="13"/>
      <p:bldP build="whole" bldLvl="1" animBg="1" rev="0" advAuto="0" spid="218" grpId="25"/>
      <p:bldP build="whole" bldLvl="1" animBg="1" rev="0" advAuto="0" spid="213" grpId="2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846194" y="-29892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Background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Background </a:t>
            </a:r>
          </a:p>
        </p:txBody>
      </p:sp>
      <p:sp>
        <p:nvSpPr>
          <p:cNvPr id="225" name="NEPSE holds 90% retail participation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NEPSE holds 90% retail participation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Dominated by Banking sector</a:t>
            </a:r>
            <a:r>
              <a:t> </a:t>
            </a:r>
            <a:r>
              <a:rPr sz="1200">
                <a:latin typeface="Poppins ExtraBold"/>
                <a:ea typeface="Poppins ExtraBold"/>
                <a:cs typeface="Poppins ExtraBold"/>
                <a:sym typeface="Poppins ExtraBold"/>
              </a:rPr>
              <a:t>(60% of NEPSE  capital)</a:t>
            </a:r>
            <a:endParaRPr sz="12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Volatile Hydro and Microfinance sector</a:t>
            </a:r>
            <a:endParaRPr sz="12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>
                <a:latin typeface="Poppins ExtraBold"/>
                <a:ea typeface="Poppins ExtraBold"/>
                <a:cs typeface="Poppins ExtraBold"/>
                <a:sym typeface="Poppins ExtraBold"/>
              </a:rPr>
              <a:t>Little to none imperical research on candlestick’s efficacy</a:t>
            </a:r>
            <a:endParaRPr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>
                <a:latin typeface="Poppins ExtraBold"/>
                <a:ea typeface="Poppins ExtraBold"/>
                <a:cs typeface="Poppins ExtraBold"/>
                <a:sym typeface="Poppins ExtraBold"/>
              </a:rPr>
              <a:t>Retail Trading driven by herd behavior and rumors</a:t>
            </a:r>
            <a:endParaRPr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>
                <a:latin typeface="Poppins ExtraBold"/>
                <a:ea typeface="Poppins ExtraBold"/>
                <a:cs typeface="Poppins ExtraBold"/>
                <a:sym typeface="Poppins ExtraBold"/>
              </a:rPr>
              <a:t>Untested technical strategies</a:t>
            </a:r>
            <a:r>
              <a:rPr sz="1200">
                <a:latin typeface="Poppins ExtraBold"/>
                <a:ea typeface="Poppins ExtraBold"/>
                <a:cs typeface="Poppins ExtraBold"/>
                <a:sym typeface="Poppins ExtraBold"/>
              </a:rPr>
              <a:t>(oppertunity for technical trading)</a:t>
            </a:r>
            <a:endParaRPr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>
                <a:latin typeface="Poppins ExtraBold"/>
                <a:ea typeface="Poppins ExtraBold"/>
                <a:cs typeface="Poppins ExtraBold"/>
                <a:sym typeface="Poppins ExtraBold"/>
              </a:rPr>
              <a:t>No intra-day Tradking</a:t>
            </a:r>
            <a:r>
              <a:rPr sz="1200">
                <a:latin typeface="Poppins ExtraBold"/>
                <a:ea typeface="Poppins ExtraBold"/>
                <a:cs typeface="Poppins ExtraBold"/>
                <a:sym typeface="Poppins ExtraBold"/>
              </a:rPr>
              <a:t> (reducing efficacy of candlesticks)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439794" y="-30400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Objective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229" name="Test Candle stick’s accuracy  Sectors, Trends, Holding Period &amp; Criteria(high, low or close)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Test Candle stick’s accuracy </a:t>
            </a:r>
            <a:b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Sectors, Trends, Holding Period &amp; Criteria</a:t>
            </a:r>
            <a:r>
              <a:rPr sz="1200">
                <a:latin typeface="Poppins ExtraBold"/>
                <a:ea typeface="Poppins ExtraBold"/>
                <a:cs typeface="Poppins ExtraBold"/>
                <a:sym typeface="Poppins ExtraBold"/>
              </a:rPr>
              <a:t>(high, low or close)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Compare Candlestick vs Random Strategy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An Imperical study in Candlesticks</a:t>
            </a:r>
            <a:r>
              <a:rPr sz="1200">
                <a:latin typeface="Poppins ExtraBold"/>
                <a:ea typeface="Poppins ExtraBold"/>
                <a:cs typeface="Poppins ExtraBold"/>
                <a:sym typeface="Poppins ExtraBold"/>
              </a:rPr>
              <a:t>(As there are little to none right now)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2522594" y="-1550149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Research Questions &amp; Hypotheses"/>
          <p:cNvSpPr txBox="1"/>
          <p:nvPr>
            <p:ph type="ctrTitle"/>
          </p:nvPr>
        </p:nvSpPr>
        <p:spPr>
          <a:xfrm>
            <a:off x="3463869" y="154426"/>
            <a:ext cx="21493736" cy="4032662"/>
          </a:xfrm>
          <a:prstGeom prst="rect">
            <a:avLst/>
          </a:prstGeom>
        </p:spPr>
        <p:txBody>
          <a:bodyPr/>
          <a:lstStyle/>
          <a:p>
            <a:pPr algn="l" defTabSz="2292038">
              <a:defRPr spc="-338" sz="1128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Research Questions &amp;</a:t>
            </a:r>
            <a:br/>
            <a:r>
              <a:t>Hypotheses </a:t>
            </a:r>
          </a:p>
        </p:txBody>
      </p:sp>
      <p:sp>
        <p:nvSpPr>
          <p:cNvPr id="233" name="RQ: How effective is the prediction accuracy of candlestick patterns in NEPSE?…"/>
          <p:cNvSpPr txBox="1"/>
          <p:nvPr/>
        </p:nvSpPr>
        <p:spPr>
          <a:xfrm>
            <a:off x="3476327" y="5560228"/>
            <a:ext cx="19929773" cy="8616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825500">
              <a:lnSpc>
                <a:spcPct val="120000"/>
              </a:lnSpc>
              <a:spcBef>
                <a:spcPts val="0"/>
              </a:spcBef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/>
              <a:t>RQ: How effective is the prediction accuracy of candlestick patterns in NEPSE?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defTabSz="825500">
              <a:lnSpc>
                <a:spcPct val="120000"/>
              </a:lnSpc>
              <a:spcBef>
                <a:spcPts val="0"/>
              </a:spcBef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H</a:t>
            </a:r>
            <a:r>
              <a:rPr sz="3500"/>
              <a:t>0</a:t>
            </a:r>
            <a:r>
              <a:t>: There is no relationship between candlestick and the stock movement prediction</a:t>
            </a:r>
          </a:p>
          <a:p>
            <a:pPr defTabSz="12700">
              <a:lnSpc>
                <a:spcPct val="12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00">
                <a:solidFill>
                  <a:schemeClr val="accent1">
                    <a:hueOff val="381599"/>
                    <a:lumOff val="-17182"/>
                  </a:schemeClr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</a:p>
          <a:p>
            <a:pPr defTabSz="12700">
              <a:lnSpc>
                <a:spcPct val="12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00">
                <a:solidFill>
                  <a:schemeClr val="accent1">
                    <a:hueOff val="381599"/>
                    <a:lumOff val="-17182"/>
                  </a:schemeClr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H</a:t>
            </a:r>
            <a:r>
              <a:rPr sz="1200"/>
              <a:t>0</a:t>
            </a:r>
            <a:r>
              <a:t>1: There is no relationship between Hammer candlestick and upward stock movement.</a:t>
            </a:r>
          </a:p>
          <a:p>
            <a:pPr defTabSz="12700">
              <a:lnSpc>
                <a:spcPct val="12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00">
                <a:solidFill>
                  <a:schemeClr val="accent1">
                    <a:hueOff val="381599"/>
                    <a:lumOff val="-17182"/>
                  </a:schemeClr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H</a:t>
            </a:r>
            <a:r>
              <a:rPr sz="1200"/>
              <a:t>0</a:t>
            </a:r>
            <a:r>
              <a:t>2: There is no relationship between Shooting Star candlestick and downward stock movement.</a:t>
            </a:r>
          </a:p>
          <a:p>
            <a:pPr defTabSz="12700">
              <a:lnSpc>
                <a:spcPct val="12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00">
                <a:solidFill>
                  <a:schemeClr val="accent1">
                    <a:hueOff val="381599"/>
                    <a:lumOff val="-17182"/>
                  </a:schemeClr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H</a:t>
            </a:r>
            <a:r>
              <a:rPr sz="1200"/>
              <a:t>0</a:t>
            </a:r>
            <a:r>
              <a:t>3: There is no relationship between Inverted Hammer and upward stock movement.</a:t>
            </a:r>
          </a:p>
          <a:p>
            <a:pPr defTabSz="12700">
              <a:lnSpc>
                <a:spcPct val="12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00">
                <a:solidFill>
                  <a:schemeClr val="accent1">
                    <a:hueOff val="381599"/>
                    <a:lumOff val="-17182"/>
                  </a:schemeClr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H</a:t>
            </a:r>
            <a:r>
              <a:rPr sz="1200"/>
              <a:t>0</a:t>
            </a:r>
            <a:r>
              <a:t>4: There is no relationship between Hanging Man candlestick and upward stock movement.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9253594" y="-184273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Limitation of the Study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Limitation of the Study</a:t>
            </a:r>
          </a:p>
        </p:txBody>
      </p:sp>
      <p:sp>
        <p:nvSpPr>
          <p:cNvPr id="237" name="Data limited to last 5 years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Data limited to last 5 years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No intraday data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Hoding period limited to 8 days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Studies just 4 candlesticks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Lack of backtesting</a:t>
            </a:r>
            <a:r>
              <a:rPr sz="1500">
                <a:latin typeface="Poppins ExtraBold"/>
                <a:ea typeface="Poppins ExtraBold"/>
                <a:cs typeface="Poppins ExtraBold"/>
                <a:sym typeface="Poppins ExtraBold"/>
              </a:rPr>
              <a:t>( to validate the results by using them in automated trading simulation in real data from past)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5697594" y="-682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Literature Review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Literature Review </a:t>
            </a:r>
          </a:p>
        </p:txBody>
      </p:sp>
      <p:sp>
        <p:nvSpPr>
          <p:cNvPr id="241" name="Steve Nison introduced candlesticks to west  with the book “ Japanese Candlestick Charting Techniques,1991 ”.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1024466" indent="-1024466" defTabSz="72644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64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400">
                <a:latin typeface="Poppins ExtraBold"/>
                <a:ea typeface="Poppins ExtraBold"/>
                <a:cs typeface="Poppins ExtraBold"/>
                <a:sym typeface="Poppins ExtraBold"/>
              </a:rPr>
              <a:t>Steve Nison introduced candlesticks to west  with the book “ Japanese Candlestick Charting Techniques,1991 ”.</a:t>
            </a:r>
            <a:endParaRPr sz="44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024466" indent="-1024466" defTabSz="72644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64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400">
                <a:latin typeface="Poppins ExtraBold"/>
                <a:ea typeface="Poppins ExtraBold"/>
                <a:cs typeface="Poppins ExtraBold"/>
                <a:sym typeface="Poppins ExtraBold"/>
              </a:rPr>
              <a:t>Bulkowski (2002) found that the Hammer pattern had a success rate of 65% in predicting bullish reversals in US where just 12 of 127 candlesticks had significantly better prediction.</a:t>
            </a:r>
            <a:endParaRPr sz="44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024466" indent="-1024466" defTabSz="72644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64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400">
                <a:latin typeface="Poppins ExtraBold"/>
                <a:ea typeface="Poppins ExtraBold"/>
                <a:cs typeface="Poppins ExtraBold"/>
                <a:sym typeface="Poppins ExtraBold"/>
              </a:rPr>
              <a:t>(Sehgal &amp; Gupta, 2007)’s study found that patterns like Three White Soldiers and Bullish Engulfing outperformed buy &amp; hold strategies by 8% annually in Fifty 50.</a:t>
            </a:r>
            <a:endParaRPr sz="44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024466" indent="-1024466" defTabSz="72644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64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400">
                <a:latin typeface="Poppins ExtraBold"/>
                <a:ea typeface="Poppins ExtraBold"/>
                <a:cs typeface="Poppins ExtraBold"/>
                <a:sym typeface="Poppins ExtraBold"/>
              </a:rPr>
              <a:t>Lo &amp; MacKinlay’s research(2008) showed TA tools being effective in markets where behavioral bias are revelant.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779406" y="-2460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Literature Review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Literature Review </a:t>
            </a:r>
          </a:p>
        </p:txBody>
      </p:sp>
      <p:sp>
        <p:nvSpPr>
          <p:cNvPr id="245" name="Richard Thaler’s work(2018): Psychology, sentiment &gt; fundamentals for price movements.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58800" indent="-558800" defTabSz="6604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4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endParaRPr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931333" indent="-931333" defTabSz="6604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4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000">
                <a:latin typeface="Poppins ExtraBold"/>
                <a:ea typeface="Poppins ExtraBold"/>
                <a:cs typeface="Poppins ExtraBold"/>
                <a:sym typeface="Poppins ExtraBold"/>
              </a:rPr>
              <a:t>Richard Thaler’s work(2018): Psychology, sentiment &gt; fundamentals for price movements.</a:t>
            </a:r>
            <a:endParaRPr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931333" indent="-931333" defTabSz="6604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4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000">
                <a:latin typeface="Poppins ExtraBold"/>
                <a:ea typeface="Poppins ExtraBold"/>
                <a:cs typeface="Poppins ExtraBold"/>
                <a:sym typeface="Poppins ExtraBold"/>
              </a:rPr>
              <a:t>Escobari’s research on 2017, Mexico : Predicting efficacy</a:t>
            </a:r>
            <a:br>
              <a:rPr sz="4000"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sz="4000">
                <a:latin typeface="Poppins ExtraBold"/>
                <a:ea typeface="Poppins ExtraBold"/>
                <a:cs typeface="Poppins ExtraBold"/>
                <a:sym typeface="Poppins ExtraBold"/>
              </a:rPr>
              <a:t>Stable Sectors &lt; Volatile Sectors.</a:t>
            </a:r>
            <a:endParaRPr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931333" indent="-931333" defTabSz="6604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4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000">
                <a:latin typeface="Poppins ExtraBold"/>
                <a:ea typeface="Poppins ExtraBold"/>
                <a:cs typeface="Poppins ExtraBold"/>
                <a:sym typeface="Poppins ExtraBold"/>
              </a:rPr>
              <a:t>Davies’ research on 2022, Nigeria: Engulfing and Bearish Harami had limited. </a:t>
            </a:r>
            <a:br>
              <a:rPr sz="4000"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sz="4000">
                <a:latin typeface="Poppins ExtraBold"/>
                <a:ea typeface="Poppins ExtraBold"/>
                <a:cs typeface="Poppins ExtraBold"/>
                <a:sym typeface="Poppins ExtraBold"/>
              </a:rPr>
              <a:t>Reason: low liquidity and high market manipulation</a:t>
            </a:r>
            <a:endParaRPr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931333" indent="-931333" defTabSz="6604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4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000">
                <a:latin typeface="Poppins ExtraBold"/>
                <a:ea typeface="Poppins ExtraBold"/>
                <a:cs typeface="Poppins ExtraBold"/>
                <a:sym typeface="Poppins ExtraBold"/>
              </a:rPr>
              <a:t>No similar studies in Nepali Market</a:t>
            </a:r>
            <a:endParaRPr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931333" indent="-931333" defTabSz="6604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24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4000">
                <a:latin typeface="Poppins ExtraBold"/>
                <a:ea typeface="Poppins ExtraBold"/>
                <a:cs typeface="Poppins ExtraBold"/>
                <a:sym typeface="Poppins ExtraBold"/>
              </a:rPr>
              <a:t>Ramesh Vaidhya (2018): Candlesticks are the least used techincal analysis tools in Nepal.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1666517" y="21669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Research Gap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Research Gap</a:t>
            </a:r>
          </a:p>
        </p:txBody>
      </p:sp>
      <p:sp>
        <p:nvSpPr>
          <p:cNvPr id="249" name="Lack of Nepal Focused Emperical Research(most of them are conducted in developed market)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Lack of Nepal Focused Emperical Research</a:t>
            </a:r>
            <a:r>
              <a:rPr sz="1500">
                <a:latin typeface="Poppins ExtraBold"/>
                <a:ea typeface="Poppins ExtraBold"/>
                <a:cs typeface="Poppins ExtraBold"/>
                <a:sym typeface="Poppins ExtraBold"/>
              </a:rPr>
              <a:t>(most of them are conducted in developed market)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Lack of Sector Specific Research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Lack of study  on how low cap and high cap sector interact with Candlesticks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No Random Benchmarking Available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Absence of study on effect of holding period in trading in Nepali Market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160394" y="8842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Conceptual Framework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Conceptual Framework</a:t>
            </a:r>
          </a:p>
        </p:txBody>
      </p:sp>
      <p:sp>
        <p:nvSpPr>
          <p:cNvPr id="253" name="Candlestick Pattern"/>
          <p:cNvSpPr/>
          <p:nvPr/>
        </p:nvSpPr>
        <p:spPr>
          <a:xfrm>
            <a:off x="1117599" y="4673884"/>
            <a:ext cx="4902201" cy="1077913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Candlestick Pattern</a:t>
            </a:r>
          </a:p>
        </p:txBody>
      </p:sp>
      <p:sp>
        <p:nvSpPr>
          <p:cNvPr id="254" name="Sector"/>
          <p:cNvSpPr/>
          <p:nvPr/>
        </p:nvSpPr>
        <p:spPr>
          <a:xfrm>
            <a:off x="1117600" y="5943884"/>
            <a:ext cx="4902200" cy="1077913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Sector</a:t>
            </a:r>
          </a:p>
        </p:txBody>
      </p:sp>
      <p:sp>
        <p:nvSpPr>
          <p:cNvPr id="255" name="Holding Period"/>
          <p:cNvSpPr/>
          <p:nvPr/>
        </p:nvSpPr>
        <p:spPr>
          <a:xfrm>
            <a:off x="1117600" y="7213884"/>
            <a:ext cx="4902200" cy="1077913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Holding Period</a:t>
            </a:r>
          </a:p>
        </p:txBody>
      </p:sp>
      <p:sp>
        <p:nvSpPr>
          <p:cNvPr id="256" name="Market Trend"/>
          <p:cNvSpPr/>
          <p:nvPr/>
        </p:nvSpPr>
        <p:spPr>
          <a:xfrm>
            <a:off x="1117600" y="8483884"/>
            <a:ext cx="4902200" cy="1077913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Market Trend</a:t>
            </a:r>
          </a:p>
        </p:txBody>
      </p:sp>
      <p:sp>
        <p:nvSpPr>
          <p:cNvPr id="257" name="Moving Average/ Stock Trend"/>
          <p:cNvSpPr/>
          <p:nvPr/>
        </p:nvSpPr>
        <p:spPr>
          <a:xfrm>
            <a:off x="1117600" y="9753884"/>
            <a:ext cx="4902200" cy="1584326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Moving Average/ Stock Trend</a:t>
            </a:r>
          </a:p>
        </p:txBody>
      </p:sp>
      <p:sp>
        <p:nvSpPr>
          <p:cNvPr id="258" name="Criteria(High, Low, Close)"/>
          <p:cNvSpPr/>
          <p:nvPr/>
        </p:nvSpPr>
        <p:spPr>
          <a:xfrm>
            <a:off x="1117600" y="11530296"/>
            <a:ext cx="4902200" cy="1584326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Criteria(High, Low, Close)</a:t>
            </a:r>
          </a:p>
        </p:txBody>
      </p:sp>
      <p:sp>
        <p:nvSpPr>
          <p:cNvPr id="259" name="Line"/>
          <p:cNvSpPr/>
          <p:nvPr/>
        </p:nvSpPr>
        <p:spPr>
          <a:xfrm>
            <a:off x="5951537" y="5178620"/>
            <a:ext cx="5526717" cy="1786176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0" name="Market"/>
          <p:cNvSpPr/>
          <p:nvPr/>
        </p:nvSpPr>
        <p:spPr>
          <a:xfrm>
            <a:off x="11398250" y="6163468"/>
            <a:ext cx="3714750" cy="4483101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Market</a:t>
            </a:r>
          </a:p>
        </p:txBody>
      </p:sp>
      <p:sp>
        <p:nvSpPr>
          <p:cNvPr id="261" name="Return Rate"/>
          <p:cNvSpPr/>
          <p:nvPr/>
        </p:nvSpPr>
        <p:spPr>
          <a:xfrm>
            <a:off x="18135600" y="6596062"/>
            <a:ext cx="4902200" cy="1077914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Return Rate</a:t>
            </a:r>
          </a:p>
        </p:txBody>
      </p:sp>
      <p:sp>
        <p:nvSpPr>
          <p:cNvPr id="262" name="Success Rate"/>
          <p:cNvSpPr/>
          <p:nvPr/>
        </p:nvSpPr>
        <p:spPr>
          <a:xfrm>
            <a:off x="18135600" y="7866062"/>
            <a:ext cx="4902200" cy="1077914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Success Rate</a:t>
            </a:r>
          </a:p>
        </p:txBody>
      </p:sp>
      <p:sp>
        <p:nvSpPr>
          <p:cNvPr id="263" name="Significance of Prediction"/>
          <p:cNvSpPr/>
          <p:nvPr/>
        </p:nvSpPr>
        <p:spPr>
          <a:xfrm>
            <a:off x="18135600" y="9136062"/>
            <a:ext cx="4902200" cy="1951038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Significance of Prediction</a:t>
            </a:r>
          </a:p>
        </p:txBody>
      </p:sp>
      <p:sp>
        <p:nvSpPr>
          <p:cNvPr id="264" name="Line"/>
          <p:cNvSpPr/>
          <p:nvPr/>
        </p:nvSpPr>
        <p:spPr>
          <a:xfrm>
            <a:off x="15044737" y="7131733"/>
            <a:ext cx="3037076" cy="1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5" name="Line"/>
          <p:cNvSpPr/>
          <p:nvPr/>
        </p:nvSpPr>
        <p:spPr>
          <a:xfrm>
            <a:off x="15044737" y="8405018"/>
            <a:ext cx="3037076" cy="1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6" name="Line"/>
          <p:cNvSpPr/>
          <p:nvPr/>
        </p:nvSpPr>
        <p:spPr>
          <a:xfrm>
            <a:off x="15044737" y="10111581"/>
            <a:ext cx="3037076" cy="1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7" name="Line"/>
          <p:cNvSpPr/>
          <p:nvPr/>
        </p:nvSpPr>
        <p:spPr>
          <a:xfrm>
            <a:off x="5992241" y="6419428"/>
            <a:ext cx="5440175" cy="942941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8" name="Line"/>
          <p:cNvSpPr/>
          <p:nvPr/>
        </p:nvSpPr>
        <p:spPr>
          <a:xfrm>
            <a:off x="6032903" y="7763566"/>
            <a:ext cx="5352268" cy="1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9" name="Line"/>
          <p:cNvSpPr/>
          <p:nvPr/>
        </p:nvSpPr>
        <p:spPr>
          <a:xfrm>
            <a:off x="6032879" y="9022840"/>
            <a:ext cx="5352268" cy="1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0" name="Line"/>
          <p:cNvSpPr/>
          <p:nvPr/>
        </p:nvSpPr>
        <p:spPr>
          <a:xfrm flipV="1">
            <a:off x="6032879" y="9376059"/>
            <a:ext cx="5360581" cy="1169988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1" name="Line"/>
          <p:cNvSpPr/>
          <p:nvPr/>
        </p:nvSpPr>
        <p:spPr>
          <a:xfrm flipV="1">
            <a:off x="6032809" y="9726896"/>
            <a:ext cx="5370315" cy="2724151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2" name="Independent Variables"/>
          <p:cNvSpPr txBox="1"/>
          <p:nvPr/>
        </p:nvSpPr>
        <p:spPr>
          <a:xfrm>
            <a:off x="1139527" y="3355935"/>
            <a:ext cx="7915573" cy="1047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20000"/>
              </a:lnSpc>
              <a:spcBef>
                <a:spcPts val="0"/>
              </a:spcBef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</a:lstStyle>
          <a:p>
            <a:pPr>
              <a:defRPr sz="3000"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Independent Variables</a:t>
            </a:r>
          </a:p>
        </p:txBody>
      </p:sp>
      <p:sp>
        <p:nvSpPr>
          <p:cNvPr id="273" name="Dependent Variables"/>
          <p:cNvSpPr txBox="1"/>
          <p:nvPr/>
        </p:nvSpPr>
        <p:spPr>
          <a:xfrm>
            <a:off x="16197113" y="3355935"/>
            <a:ext cx="7915574" cy="1047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20000"/>
              </a:lnSpc>
              <a:spcBef>
                <a:spcPts val="0"/>
              </a:spcBef>
              <a:defRPr sz="5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</a:lstStyle>
          <a:p>
            <a:pPr>
              <a:defRPr sz="3000"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Dependent Variables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Class="entr" nodeType="after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Class="entr" nodeType="after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Class="entr" nodeType="after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Class="entr" nodeType="after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Class="entr" nodeType="afterEffect" presetSubtype="16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Class="entr" nodeType="after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500"/>
                            </p:stCondLst>
                            <p:childTnLst>
                              <p:par>
                                <p:cTn id="40" presetClass="entr" nodeType="afterEffect" presetSubtype="16" presetID="23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Class="entr" nodeType="afterEffect" presetSubtype="16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500"/>
                            </p:stCondLst>
                            <p:childTnLst>
                              <p:par>
                                <p:cTn id="50" presetClass="entr" nodeType="afterEffect" presetSubtype="16" presetID="23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3000"/>
                            </p:stCondLst>
                            <p:childTnLst>
                              <p:par>
                                <p:cTn id="55" presetClass="entr" nodeType="afterEffect" presetSubtype="16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4500"/>
                            </p:stCondLst>
                            <p:childTnLst>
                              <p:par>
                                <p:cTn id="60" presetClass="entr" nodeType="afterEffect" presetSubtype="16" presetID="23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000"/>
                            </p:stCondLst>
                            <p:childTnLst>
                              <p:par>
                                <p:cTn id="65" presetClass="entr" nodeType="afterEffect" presetSubtype="16" presetID="23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7500"/>
                            </p:stCondLst>
                            <p:childTnLst>
                              <p:par>
                                <p:cTn id="70" presetClass="entr" nodeType="afterEffect" presetSubtype="16" presetID="23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Class="entr" nodeType="clickEffect" presetSubtype="16" presetID="23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Class="entr" nodeType="clickEffect" presetSubtype="16" presetID="23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Class="entr" nodeType="afterEffect" presetSubtype="16" presetID="23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000"/>
                            </p:stCondLst>
                            <p:childTnLst>
                              <p:par>
                                <p:cTn id="92" presetClass="entr" nodeType="afterEffect" presetSubtype="16" presetID="23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500"/>
                            </p:stCondLst>
                            <p:childTnLst>
                              <p:par>
                                <p:cTn id="97" presetClass="entr" nodeType="afterEffect" presetSubtype="16" presetID="23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000"/>
                            </p:stCondLst>
                            <p:childTnLst>
                              <p:par>
                                <p:cTn id="102" presetClass="entr" nodeType="afterEffect" presetSubtype="16" presetID="23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500"/>
                            </p:stCondLst>
                            <p:childTnLst>
                              <p:par>
                                <p:cTn id="107" presetClass="entr" nodeType="afterEffect" presetSubtype="16" presetID="23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9000"/>
                            </p:stCondLst>
                            <p:childTnLst>
                              <p:par>
                                <p:cTn id="112" presetClass="entr" nodeType="afterEffect" presetSubtype="16" presetID="23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4" grpId="5"/>
      <p:bldP build="whole" bldLvl="1" animBg="1" rev="0" advAuto="0" spid="258" grpId="14"/>
      <p:bldP build="whole" bldLvl="1" animBg="1" rev="0" advAuto="0" spid="262" grpId="19"/>
      <p:bldP build="whole" bldLvl="1" animBg="1" rev="0" advAuto="0" spid="270" grpId="12"/>
      <p:bldP build="whole" bldLvl="1" animBg="1" rev="0" advAuto="0" spid="251" grpId="4"/>
      <p:bldP build="whole" bldLvl="1" animBg="1" rev="0" advAuto="0" spid="255" grpId="7"/>
      <p:bldP build="whole" bldLvl="1" animBg="1" rev="0" advAuto="0" spid="271" grpId="13"/>
      <p:bldP build="whole" bldLvl="1" animBg="1" rev="0" advAuto="0" spid="273" grpId="16"/>
      <p:bldP build="whole" bldLvl="1" animBg="1" rev="0" advAuto="0" spid="261" grpId="17"/>
      <p:bldP build="whole" bldLvl="1" animBg="1" rev="0" advAuto="0" spid="259" grpId="3"/>
      <p:bldP build="whole" bldLvl="1" animBg="1" rev="0" advAuto="0" spid="253" grpId="2"/>
      <p:bldP build="whole" bldLvl="1" animBg="1" rev="0" advAuto="0" spid="269" grpId="10"/>
      <p:bldP build="whole" bldLvl="1" animBg="1" rev="0" advAuto="0" spid="268" grpId="8"/>
      <p:bldP build="whole" bldLvl="1" animBg="1" rev="0" advAuto="0" spid="257" grpId="11"/>
      <p:bldP build="whole" bldLvl="1" animBg="1" rev="0" advAuto="0" spid="267" grpId="6"/>
      <p:bldP build="whole" bldLvl="1" animBg="1" rev="0" advAuto="0" spid="264" grpId="18"/>
      <p:bldP build="whole" bldLvl="1" animBg="1" rev="0" advAuto="0" spid="263" grpId="21"/>
      <p:bldP build="whole" bldLvl="1" animBg="1" rev="0" advAuto="0" spid="265" grpId="20"/>
      <p:bldP build="whole" bldLvl="1" animBg="1" rev="0" advAuto="0" spid="272" grpId="1"/>
      <p:bldP build="whole" bldLvl="1" animBg="1" rev="0" advAuto="0" spid="266" grpId="22"/>
      <p:bldP build="whole" bldLvl="1" animBg="1" rev="0" advAuto="0" spid="256" grpId="9"/>
      <p:bldP build="whole" bldLvl="1" animBg="1" rev="0" advAuto="0" spid="260" grpId="15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1666517" y="19637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Research Design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Research Design</a:t>
            </a:r>
          </a:p>
        </p:txBody>
      </p:sp>
      <p:sp>
        <p:nvSpPr>
          <p:cNvPr id="277" name="Secondary data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Secondary data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Quasi-Experimental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75 stocks × 5 sectors × 5 years</a:t>
            </a:r>
            <a:r>
              <a:t> </a:t>
            </a: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× 4 Candlestick Patterns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1:1 random strategy matching for each candlestick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Descriptive Analaysis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Inferencial Analaysis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3741794" y="11763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Sample &amp; Population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Sample &amp; Population</a:t>
            </a:r>
          </a:p>
        </p:txBody>
      </p:sp>
      <p:sp>
        <p:nvSpPr>
          <p:cNvPr id="281" name="Population : Full price history of all listed stocks in NEPSE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Population : Full price history of all listed stocks in NEPSE 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Sample: 15 Stocks × 5 Sectors × 5 years price history data 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Time Period : Mid 2019 to Late 2024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Criteria : High, Low, Close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5 Secotrs : Banking, Hydropower, Microfinance, Expensive Stocks &amp; Low Floating, Low Cap stocks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ample Stock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Sample Stocks</a:t>
            </a:r>
          </a:p>
        </p:txBody>
      </p:sp>
      <p:pic>
        <p:nvPicPr>
          <p:cNvPr id="284" name="CleanShot 2025-02-06 at 10 .56.57@2x.png" descr="CleanShot 2025-02-06 at 10 .56.57@2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55437" y="2915460"/>
            <a:ext cx="12523403" cy="1064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pasted-movie.png" descr="pasted-movie.png"/>
          <p:cNvPicPr>
            <a:picLocks noChangeAspect="1"/>
          </p:cNvPicPr>
          <p:nvPr/>
        </p:nvPicPr>
        <p:blipFill>
          <a:blip r:embed="rId3">
            <a:alphaModFix amt="8654"/>
            <a:extLst/>
          </a:blip>
          <a:stretch>
            <a:fillRect/>
          </a:stretch>
        </p:blipFill>
        <p:spPr>
          <a:xfrm>
            <a:off x="-3792594" y="-1842732"/>
            <a:ext cx="28742262" cy="174014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1785994" y="-9572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Data Collection Proces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Data Collection Process</a:t>
            </a:r>
          </a:p>
        </p:txBody>
      </p:sp>
      <p:sp>
        <p:nvSpPr>
          <p:cNvPr id="289" name="Create List of Sectors"/>
          <p:cNvSpPr/>
          <p:nvPr/>
        </p:nvSpPr>
        <p:spPr>
          <a:xfrm>
            <a:off x="7261225" y="2943225"/>
            <a:ext cx="9861550" cy="1409700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Create List of Sectors</a:t>
            </a:r>
          </a:p>
        </p:txBody>
      </p:sp>
      <p:sp>
        <p:nvSpPr>
          <p:cNvPr id="290" name="Random 15 Stocks in each Sector"/>
          <p:cNvSpPr/>
          <p:nvPr/>
        </p:nvSpPr>
        <p:spPr>
          <a:xfrm>
            <a:off x="4745037" y="4680687"/>
            <a:ext cx="14893926" cy="1479551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Random 15 Stocks in each Sector</a:t>
            </a:r>
          </a:p>
        </p:txBody>
      </p:sp>
      <p:sp>
        <p:nvSpPr>
          <p:cNvPr id="291" name="Line"/>
          <p:cNvSpPr/>
          <p:nvPr/>
        </p:nvSpPr>
        <p:spPr>
          <a:xfrm flipV="1">
            <a:off x="40004999" y="7979117"/>
            <a:ext cx="1586410" cy="152803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2" name="Download Price History from NepseAlpha"/>
          <p:cNvSpPr/>
          <p:nvPr/>
        </p:nvSpPr>
        <p:spPr>
          <a:xfrm>
            <a:off x="6344443" y="6488000"/>
            <a:ext cx="11695114" cy="1336279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Download Price History from NepseAlpha</a:t>
            </a:r>
          </a:p>
        </p:txBody>
      </p:sp>
      <p:sp>
        <p:nvSpPr>
          <p:cNvPr id="293" name="Cleanup and Tansform data to simplest form"/>
          <p:cNvSpPr/>
          <p:nvPr/>
        </p:nvSpPr>
        <p:spPr>
          <a:xfrm>
            <a:off x="7261225" y="8152041"/>
            <a:ext cx="9861550" cy="1479551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Cleanup and Tansform data to simplest form</a:t>
            </a:r>
          </a:p>
        </p:txBody>
      </p:sp>
      <p:sp>
        <p:nvSpPr>
          <p:cNvPr id="294" name="Select same amount of random points in each stock"/>
          <p:cNvSpPr/>
          <p:nvPr/>
        </p:nvSpPr>
        <p:spPr>
          <a:xfrm>
            <a:off x="4860131" y="11152985"/>
            <a:ext cx="14663738" cy="1479551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Select same amount of random points in each stock </a:t>
            </a:r>
          </a:p>
        </p:txBody>
      </p:sp>
      <p:sp>
        <p:nvSpPr>
          <p:cNvPr id="295" name="Compute Candle patterns"/>
          <p:cNvSpPr/>
          <p:nvPr/>
        </p:nvSpPr>
        <p:spPr>
          <a:xfrm>
            <a:off x="9347200" y="9774750"/>
            <a:ext cx="5689600" cy="1235076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Compute Candle patterns</a:t>
            </a:r>
          </a:p>
        </p:txBody>
      </p:sp>
      <p:sp>
        <p:nvSpPr>
          <p:cNvPr id="296" name="Line"/>
          <p:cNvSpPr/>
          <p:nvPr/>
        </p:nvSpPr>
        <p:spPr>
          <a:xfrm flipV="1">
            <a:off x="45897799" y="7979117"/>
            <a:ext cx="1586410" cy="152803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7" name="Line"/>
          <p:cNvSpPr/>
          <p:nvPr/>
        </p:nvSpPr>
        <p:spPr>
          <a:xfrm>
            <a:off x="31286995" y="8131919"/>
            <a:ext cx="1582757" cy="1"/>
          </a:xfrm>
          <a:prstGeom prst="line">
            <a:avLst/>
          </a:prstGeom>
          <a:ln w="76200">
            <a:solidFill>
              <a:schemeClr val="accent1">
                <a:hueOff val="117587"/>
                <a:lumOff val="-11400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4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4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4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2" grpId="3"/>
      <p:bldP build="whole" bldLvl="1" animBg="1" rev="0" advAuto="0" spid="290" grpId="2"/>
      <p:bldP build="whole" bldLvl="1" animBg="1" rev="0" advAuto="0" spid="289" grpId="1"/>
      <p:bldP build="whole" bldLvl="1" animBg="1" rev="0" advAuto="0" spid="293" grpId="4"/>
      <p:bldP build="whole" bldLvl="1" animBg="1" rev="0" advAuto="0" spid="295" grpId="5"/>
      <p:bldP build="whole" bldLvl="1" animBg="1" rev="0" advAuto="0" spid="294" grpId="6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5824594" y="-680993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Methods of Analysi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Methods of Analysis</a:t>
            </a:r>
          </a:p>
        </p:txBody>
      </p:sp>
      <p:sp>
        <p:nvSpPr>
          <p:cNvPr id="301" name="Data : Time series of price history and candle patterns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Data : Time series of price history and candle patterns 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Tools: scipy, pandas, plotlyx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Significance Test : p-value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Criteria : High, Low, Close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5 Secotrs : Banking, Hydropower, Microfinance, Expensive Stocks &amp; Low Floating, Low Cap stocks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1684394" y="-2458908"/>
            <a:ext cx="28742262" cy="17401465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Data Analysis Proces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Data Analysis Process</a:t>
            </a:r>
          </a:p>
        </p:txBody>
      </p:sp>
      <p:sp>
        <p:nvSpPr>
          <p:cNvPr id="305" name="Calcualte Moving Average of High, Low and Close for past 2,4 and 8 days for candles and random picks"/>
          <p:cNvSpPr/>
          <p:nvPr/>
        </p:nvSpPr>
        <p:spPr>
          <a:xfrm>
            <a:off x="1236662" y="2714625"/>
            <a:ext cx="21788439" cy="833438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Calcualte Moving Average of High, Low and Close for past 2,4 and 8 days for candles and random picks</a:t>
            </a:r>
          </a:p>
        </p:txBody>
      </p:sp>
      <p:sp>
        <p:nvSpPr>
          <p:cNvPr id="306" name="Compare High, Low and Close of day of concern with MAs of past to find short-trend"/>
          <p:cNvSpPr/>
          <p:nvPr/>
        </p:nvSpPr>
        <p:spPr>
          <a:xfrm>
            <a:off x="1297781" y="3654425"/>
            <a:ext cx="21788438" cy="833438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Compare High, Low and Close of day of concern with MAs of past to find short-trend</a:t>
            </a:r>
          </a:p>
        </p:txBody>
      </p:sp>
      <p:sp>
        <p:nvSpPr>
          <p:cNvPr id="307" name="Compare High, Low and Close of day of concern with MAs of future to find stock movment"/>
          <p:cNvSpPr/>
          <p:nvPr/>
        </p:nvSpPr>
        <p:spPr>
          <a:xfrm>
            <a:off x="1297781" y="4574665"/>
            <a:ext cx="21788438" cy="833438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Compare High, Low and Close of day of concern with MAs of future to find stock movment</a:t>
            </a:r>
          </a:p>
        </p:txBody>
      </p:sp>
      <p:sp>
        <p:nvSpPr>
          <p:cNvPr id="308" name="Calcualte return rate by comparing a days criteria with MA of Same criteria in various holding periods"/>
          <p:cNvSpPr/>
          <p:nvPr/>
        </p:nvSpPr>
        <p:spPr>
          <a:xfrm>
            <a:off x="1297781" y="5494905"/>
            <a:ext cx="21788438" cy="833439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Calcualte return rate by comparing a days criteria with MA of Same criteria in various holding periods</a:t>
            </a:r>
          </a:p>
        </p:txBody>
      </p:sp>
      <p:sp>
        <p:nvSpPr>
          <p:cNvPr id="309" name="Compare the return rate of candle’s day vs random day for descriptive analysis"/>
          <p:cNvSpPr/>
          <p:nvPr/>
        </p:nvSpPr>
        <p:spPr>
          <a:xfrm>
            <a:off x="1297781" y="6434705"/>
            <a:ext cx="21788438" cy="833439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Compare the return rate of candle’s day vs random day for descriptive analysis</a:t>
            </a:r>
          </a:p>
        </p:txBody>
      </p:sp>
      <p:sp>
        <p:nvSpPr>
          <p:cNvPr id="310" name="Organize the return rates based on holding period, short-trend, long trend, sector and criteria as descriptive analysis"/>
          <p:cNvSpPr/>
          <p:nvPr/>
        </p:nvSpPr>
        <p:spPr>
          <a:xfrm>
            <a:off x="1297781" y="7335386"/>
            <a:ext cx="21788438" cy="1552517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Organize the return rates based on holding period, short-trend, long trend, sector and criteria as descriptive analysis</a:t>
            </a:r>
          </a:p>
        </p:txBody>
      </p:sp>
      <p:sp>
        <p:nvSpPr>
          <p:cNvPr id="311" name="Discard the combination of critera, sector, holding period and trend when the return rate of candle’s date is lower than random selection at same combination of variables"/>
          <p:cNvSpPr/>
          <p:nvPr/>
        </p:nvSpPr>
        <p:spPr>
          <a:xfrm>
            <a:off x="1297781" y="8955146"/>
            <a:ext cx="21788438" cy="1552517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Discard the combination of critera, sector, holding period and trend when the return rate of candle’s date is lower than random selection at same combination of variables </a:t>
            </a:r>
          </a:p>
        </p:txBody>
      </p:sp>
      <p:sp>
        <p:nvSpPr>
          <p:cNvPr id="312" name="Compute Chi-square test for p-value between return rates of candle with respect to return rate of random pick at the same set of combination of variables"/>
          <p:cNvSpPr/>
          <p:nvPr/>
        </p:nvSpPr>
        <p:spPr>
          <a:xfrm>
            <a:off x="1297781" y="10574905"/>
            <a:ext cx="21788438" cy="1462089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Compute Chi-square test for p-value between return rates of candle with respect to return rate of random pick at the same set of combination of variables</a:t>
            </a:r>
          </a:p>
        </p:txBody>
      </p:sp>
      <p:sp>
        <p:nvSpPr>
          <p:cNvPr id="313" name="Test the stastical significance, check the validy of hypothesis and derive conclusion"/>
          <p:cNvSpPr/>
          <p:nvPr/>
        </p:nvSpPr>
        <p:spPr>
          <a:xfrm>
            <a:off x="1297781" y="12104236"/>
            <a:ext cx="21788438" cy="1270001"/>
          </a:xfrm>
          <a:prstGeom prst="rect">
            <a:avLst/>
          </a:prstGeom>
          <a:solidFill>
            <a:schemeClr val="accent1">
              <a:hueOff val="117587"/>
              <a:lumOff val="-114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Test the stastical significance, check the validy of hypothesis and derive conclusion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4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4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4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4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4" presetID="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4" presetID="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8" grpId="4"/>
      <p:bldP build="whole" bldLvl="1" animBg="1" rev="0" advAuto="0" spid="312" grpId="8"/>
      <p:bldP build="whole" bldLvl="1" animBg="1" rev="0" advAuto="0" spid="311" grpId="7"/>
      <p:bldP build="whole" bldLvl="1" animBg="1" rev="0" advAuto="0" spid="309" grpId="5"/>
      <p:bldP build="whole" bldLvl="1" animBg="1" rev="0" advAuto="0" spid="306" grpId="2"/>
      <p:bldP build="whole" bldLvl="1" animBg="1" rev="0" advAuto="0" spid="310" grpId="6"/>
      <p:bldP build="whole" bldLvl="1" animBg="1" rev="0" advAuto="0" spid="313" grpId="9"/>
      <p:bldP build="whole" bldLvl="1" animBg="1" rev="0" advAuto="0" spid="307" grpId="3"/>
      <p:bldP build="whole" bldLvl="1" animBg="1" rev="0" advAuto="0" spid="30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Descriptive Analysi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Descriptive Analysis </a:t>
            </a:r>
          </a:p>
        </p:txBody>
      </p:sp>
      <p:pic>
        <p:nvPicPr>
          <p:cNvPr id="316" name="CleanShot 2025-02-06 at 11 .46.13@2x.png" descr="CleanShot 2025-02-06 at 11 .46.13@2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51600" y="2698524"/>
            <a:ext cx="11480800" cy="10033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7" name="pasted-movie.png" descr="pasted-movie.png"/>
          <p:cNvPicPr>
            <a:picLocks noChangeAspect="1"/>
          </p:cNvPicPr>
          <p:nvPr/>
        </p:nvPicPr>
        <p:blipFill>
          <a:blip r:embed="rId3">
            <a:alphaModFix amt="8654"/>
            <a:extLst/>
          </a:blip>
          <a:stretch>
            <a:fillRect/>
          </a:stretch>
        </p:blipFill>
        <p:spPr>
          <a:xfrm>
            <a:off x="-1633594" y="-985708"/>
            <a:ext cx="28742262" cy="174014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Inferencial Analysi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Inferencial Analysis</a:t>
            </a:r>
          </a:p>
        </p:txBody>
      </p:sp>
      <p:pic>
        <p:nvPicPr>
          <p:cNvPr id="320" name="CleanShot 2025-02-06 at 11 .47.25@2x.png" descr="CleanShot 2025-02-06 at 11 .47.25@2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64847" y="2979856"/>
            <a:ext cx="16254306" cy="107217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" name="pasted-movie.png" descr="pasted-movie.png"/>
          <p:cNvPicPr>
            <a:picLocks noChangeAspect="1"/>
          </p:cNvPicPr>
          <p:nvPr/>
        </p:nvPicPr>
        <p:blipFill>
          <a:blip r:embed="rId3">
            <a:alphaModFix amt="8654"/>
            <a:extLst/>
          </a:blip>
          <a:stretch>
            <a:fillRect/>
          </a:stretch>
        </p:blipFill>
        <p:spPr>
          <a:xfrm>
            <a:off x="-3030594" y="-1341308"/>
            <a:ext cx="28742262" cy="174014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turn Distribution (L/H)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Return Distribution (L/H)</a:t>
            </a:r>
          </a:p>
        </p:txBody>
      </p:sp>
      <p:pic>
        <p:nvPicPr>
          <p:cNvPr id="324" name="CleanShot 2025-02-06 at 11 .49.25@2x.png" descr="CleanShot 2025-02-06 at 11 .49.25@2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5162" y="2893741"/>
            <a:ext cx="21633676" cy="106907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pasted-movie.png" descr="pasted-movie.png"/>
          <p:cNvPicPr>
            <a:picLocks noChangeAspect="1"/>
          </p:cNvPicPr>
          <p:nvPr/>
        </p:nvPicPr>
        <p:blipFill>
          <a:blip r:embed="rId3">
            <a:alphaModFix amt="8654"/>
            <a:extLst/>
          </a:blip>
          <a:stretch>
            <a:fillRect/>
          </a:stretch>
        </p:blipFill>
        <p:spPr>
          <a:xfrm>
            <a:off x="-7627994" y="-2077908"/>
            <a:ext cx="28742262" cy="174014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turn Distribution (Close)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Return Distribution (Close)</a:t>
            </a:r>
          </a:p>
        </p:txBody>
      </p:sp>
      <p:pic>
        <p:nvPicPr>
          <p:cNvPr id="328" name="CleanShot 2025-02-06 at 11 .50.14@2x.png" descr="CleanShot 2025-02-06 at 11 .50.14@2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13289" y="2571102"/>
            <a:ext cx="21357422" cy="10778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329" name="pasted-movie.png" descr="pasted-movie.png"/>
          <p:cNvPicPr>
            <a:picLocks noChangeAspect="1"/>
          </p:cNvPicPr>
          <p:nvPr/>
        </p:nvPicPr>
        <p:blipFill>
          <a:blip r:embed="rId3">
            <a:alphaModFix amt="8654"/>
            <a:extLst/>
          </a:blip>
          <a:stretch>
            <a:fillRect/>
          </a:stretch>
        </p:blipFill>
        <p:spPr>
          <a:xfrm>
            <a:off x="-160394" y="106492"/>
            <a:ext cx="28742262" cy="174014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-value Distribution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P-value Distribution</a:t>
            </a:r>
          </a:p>
        </p:txBody>
      </p:sp>
      <p:pic>
        <p:nvPicPr>
          <p:cNvPr id="332" name="CleanShot 2025-02-06 at 11 .51.15@2x.png" descr="CleanShot 2025-02-06 at 11 .51.15@2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366" y="3069128"/>
            <a:ext cx="22665268" cy="10339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" name="pasted-movie.png" descr="pasted-movie.png"/>
          <p:cNvPicPr>
            <a:picLocks noChangeAspect="1"/>
          </p:cNvPicPr>
          <p:nvPr/>
        </p:nvPicPr>
        <p:blipFill>
          <a:blip r:embed="rId3">
            <a:alphaModFix amt="8654"/>
            <a:extLst/>
          </a:blip>
          <a:stretch>
            <a:fillRect/>
          </a:stretch>
        </p:blipFill>
        <p:spPr>
          <a:xfrm>
            <a:off x="-4960994" y="-985708"/>
            <a:ext cx="28742262" cy="174014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7450194" y="-21510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Test of Hypothesi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Test of Hypothesis</a:t>
            </a:r>
          </a:p>
        </p:txBody>
      </p:sp>
      <p:sp>
        <p:nvSpPr>
          <p:cNvPr id="337" name="Reject H₀1 for Hammer for High and Close criteria but accept H₀1 for Close Criteria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Reject H₀1 for Hammer for High and Close criteria but accept H₀1 for Close Criteria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Reject H₀1 for Hammer for High and Close criteria but accept H₀1 for Close Criteria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Accept H₀3 for Inverted Hammer (H₀3) &amp; Hanging Man (H₀4)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1666517" y="-174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Key Findings (Hammer)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Key Findings (Hammer)</a:t>
            </a:r>
          </a:p>
        </p:txBody>
      </p:sp>
      <p:sp>
        <p:nvSpPr>
          <p:cNvPr id="341" name="Outperformed random  on Highs &amp; Lows by 15-30%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Outperformed random  on Highs &amp; Lows by 15-30%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Prediction for CLOSE comparable with random selection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Better at bullish market(10-15%)  and short holding period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Predicts “High” better than “Low”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Median return rate was 1 to 1.5%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Success rate ~8% better when following trend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4021194" y="15827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44" name="Key Findings (Shooting Star)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/>
          <a:p>
            <a: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Key Findings </a:t>
            </a:r>
            <a:r>
              <a:rPr spc="-239" sz="8000"/>
              <a:t>(Shooting Star</a:t>
            </a:r>
            <a:r>
              <a:t>)</a:t>
            </a:r>
          </a:p>
        </p:txBody>
      </p:sp>
      <p:sp>
        <p:nvSpPr>
          <p:cNvPr id="345" name="Outperformed random  on Highs &amp; Lows upto 31%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Outperformed random  on Highs &amp; Lows upto 31%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Prediction for CLOSE comparable with random selection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(P-Value) Hammer &lt;(P-value)</a:t>
            </a:r>
            <a:r>
              <a:t> </a:t>
            </a: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Median &lt; 0.001.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Better on bearish market(~12%) and volatile stocks.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Predicts “Low” better than “High”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Succss Rate 5-15% better when following trend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4605394" y="-184273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Key Findings (I. Hammer &amp; H. Man)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/>
          <a:p>
            <a: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Key Findings </a:t>
            </a:r>
            <a:r>
              <a:rPr spc="-239" sz="8000"/>
              <a:t>(I. Hammer &amp; H. Man</a:t>
            </a:r>
            <a:r>
              <a:t>)</a:t>
            </a:r>
          </a:p>
        </p:txBody>
      </p:sp>
      <p:sp>
        <p:nvSpPr>
          <p:cNvPr id="349" name="Both performed poorly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Both performed poorly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Hanging Man effective on Close Criteria once in a bluemoon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Stastistically insignificant success rates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3182994" y="-30654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Conclusion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Conclusions</a:t>
            </a:r>
          </a:p>
        </p:txBody>
      </p:sp>
      <p:sp>
        <p:nvSpPr>
          <p:cNvPr id="353" name="Hammer and Shooting Star are statistically significant at predicting High and Low but not at Close Criteria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Hammer and Shooting Star are statistically significant at predicting High and Low but not at Close Criteria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Hammer: Most reliable, delivering consistent results in both bullish and bearish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Shooting Star : Suitable for bearish markets, Low criteria.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Shooting Star's performance wanes in bullish conditions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Inverted Hammer and Hanging Man show almost no value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4300594" y="8969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Conclusions"/>
          <p:cNvSpPr txBox="1"/>
          <p:nvPr>
            <p:ph type="ctrTitle"/>
          </p:nvPr>
        </p:nvSpPr>
        <p:spPr>
          <a:xfrm>
            <a:off x="3463869" y="154426"/>
            <a:ext cx="21493736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Conclusions</a:t>
            </a:r>
          </a:p>
        </p:txBody>
      </p:sp>
      <p:sp>
        <p:nvSpPr>
          <p:cNvPr id="357" name="Hammer and Shooting Star's efficacy goes down on 8-day periods, usable just for short-term trading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Hammer and Shooting Star's efficacy goes down on 8-day periods, usable just for short-term trading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Low-floating stocks exhibit higher volatility, amplifying Shooting Star's Low prediction accuracy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No pattern predicts Close prices reliably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Findings challenge the universal applicability of candlestick strategies but validate targeted uses.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3868794" y="8969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Recommendations(Retail Investors)"/>
          <p:cNvSpPr txBox="1"/>
          <p:nvPr>
            <p:ph type="ctrTitle"/>
          </p:nvPr>
        </p:nvSpPr>
        <p:spPr>
          <a:xfrm>
            <a:off x="3463869" y="154426"/>
            <a:ext cx="18734661" cy="2461037"/>
          </a:xfrm>
          <a:prstGeom prst="rect">
            <a:avLst/>
          </a:prstGeom>
        </p:spPr>
        <p:txBody>
          <a:bodyPr/>
          <a:lstStyle/>
          <a:p>
            <a:pPr algn="l" defTabSz="1975054">
              <a:defRPr spc="-291" sz="972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Recommendations</a:t>
            </a:r>
            <a:r>
              <a:rPr spc="-194" sz="6480"/>
              <a:t>(Retail Investors)</a:t>
            </a:r>
            <a:r>
              <a:t>   </a:t>
            </a:r>
          </a:p>
        </p:txBody>
      </p:sp>
      <p:sp>
        <p:nvSpPr>
          <p:cNvPr id="361" name="Prioritize Hammer patterns for 2–4 day High predictions in Banking/Hydropower sectors (79% accuracy)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Prioritize Hammer patterns for 2–4 day High predictions in Banking/Hydropower sectors (79% accuracy)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Utilize Shooting Star patterns for Low predictions in bearish markets (≥75% accuracy in 6 sectors)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Avoid using candlestick patterns for Close price predictions due to underperformance.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1100194" y="-15922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Recommendations(Academics)"/>
          <p:cNvSpPr txBox="1"/>
          <p:nvPr>
            <p:ph type="ctrTitle"/>
          </p:nvPr>
        </p:nvSpPr>
        <p:spPr>
          <a:xfrm>
            <a:off x="3463869" y="154426"/>
            <a:ext cx="18734661" cy="2461037"/>
          </a:xfrm>
          <a:prstGeom prst="rect">
            <a:avLst/>
          </a:prstGeom>
        </p:spPr>
        <p:txBody>
          <a:bodyPr/>
          <a:lstStyle/>
          <a:p>
            <a:pPr algn="l" defTabSz="2023821">
              <a:defRPr spc="-298" sz="996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Recommendations</a:t>
            </a:r>
            <a:r>
              <a:rPr spc="-199" sz="6640"/>
              <a:t>(</a:t>
            </a:r>
            <a:r>
              <a:rPr spc="-249" sz="8300"/>
              <a:t>Academics</a:t>
            </a:r>
            <a:r>
              <a:rPr spc="-199" sz="6640"/>
              <a:t>)</a:t>
            </a:r>
            <a:r>
              <a:t>   </a:t>
            </a:r>
          </a:p>
        </p:txBody>
      </p:sp>
      <p:sp>
        <p:nvSpPr>
          <p:cNvPr id="365" name="Investigate the unpredictability of Close prices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Investigate the unpredictability of Close prices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Explore integrating machine learning with Hammer and Shooting Star patterns for automated trading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Conduct backtesting based on the findings of this research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2179131" y="7699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68" name="Recommendations(Policymakers)"/>
          <p:cNvSpPr txBox="1"/>
          <p:nvPr>
            <p:ph type="ctrTitle"/>
          </p:nvPr>
        </p:nvSpPr>
        <p:spPr>
          <a:xfrm>
            <a:off x="3463869" y="154426"/>
            <a:ext cx="18734661" cy="2461037"/>
          </a:xfrm>
          <a:prstGeom prst="rect">
            <a:avLst/>
          </a:prstGeom>
        </p:spPr>
        <p:txBody>
          <a:bodyPr/>
          <a:lstStyle/>
          <a:p>
            <a:pPr algn="l" defTabSz="2048204">
              <a:defRPr spc="-302" sz="1008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Recommendations</a:t>
            </a:r>
            <a:r>
              <a:rPr spc="-201" sz="6719"/>
              <a:t>(Policymakers)</a:t>
            </a:r>
            <a:r>
              <a:t>   </a:t>
            </a:r>
          </a:p>
        </p:txBody>
      </p:sp>
      <p:sp>
        <p:nvSpPr>
          <p:cNvPr id="369" name="Mandate risk disclosures specific to candle patterns on trading and stock information platforms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Mandate risk disclosures specific to candle patterns on trading and stock information platforms</a:t>
            </a:r>
            <a:endParaRPr sz="5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1164166" indent="-1164166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rPr sz="5000">
                <a:latin typeface="Poppins ExtraBold"/>
                <a:ea typeface="Poppins ExtraBold"/>
                <a:cs typeface="Poppins ExtraBold"/>
                <a:sym typeface="Poppins ExtraBold"/>
              </a:rPr>
              <a:t>Fund education initiatives on statistically validated trading strategies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2179131" y="-19173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References"/>
          <p:cNvSpPr txBox="1"/>
          <p:nvPr>
            <p:ph type="ctrTitle"/>
          </p:nvPr>
        </p:nvSpPr>
        <p:spPr>
          <a:xfrm>
            <a:off x="3463869" y="154426"/>
            <a:ext cx="18734661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373" name="Bulkowski, T. (2021). Encyclopedia of Chart Patterns (3rd ed.)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Bulkowski, T. (2021). Encyclopedia of Chart Patterns (3rd ed.)</a:t>
            </a: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Escobari, D., Garcia, S., &amp; Mellado, C. (2017). Identifying bubbles in Latin American equity markets: Phillips-Perron-based tests and linkages. </a:t>
            </a:r>
            <a:r>
              <a:rPr i="1"/>
              <a:t>Emerging Markets Review</a:t>
            </a:r>
            <a:r>
              <a:t>, </a:t>
            </a:r>
            <a:r>
              <a:rPr i="1"/>
              <a:t>33</a:t>
            </a:r>
            <a:r>
              <a:t>, 90–101. </a:t>
            </a:r>
            <a:r>
              <a:rPr u="sng">
                <a:hlinkClick r:id="rId3" invalidUrl="" action="" tgtFrame="" tooltip="" history="1" highlightClick="0" endSnd="0"/>
              </a:rPr>
              <a:t>https://doi.org/10.1016/j.ememar.2017.09.001</a:t>
            </a: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Nepal Rastra Bank. (2023). NEPSE Annual Report 2022-2023 (p. 228) [Annual].</a:t>
            </a: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Nison, S. (1991). Japanese candlestick charting techniques: A contemporary guide to the ancient investment techniques of the Far East</a:t>
            </a:r>
            <a:r>
              <a:t>. New York Institute of Finance.</a:t>
            </a: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Park, C., &amp; Irwin, S. H. (2007). WHAT DO WE KNOW ABOUT THE PROFITABILITY OF TECHNICAL ANALYSIS? </a:t>
            </a:r>
            <a:r>
              <a:rPr i="1"/>
              <a:t>Journal of Economic</a:t>
            </a:r>
            <a:endParaRPr i="1"/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Poudel, A., Bhusal, S., &amp; Datt Pathak, D. (2024). Behaviour Bias and Investment Decision in </a:t>
            </a:r>
            <a:r>
              <a:t>Nepalese Investors. </a:t>
            </a:r>
            <a:r>
              <a:t>International Journal of Business and Management</a:t>
            </a:r>
            <a:r>
              <a:t>, </a:t>
            </a:r>
            <a:r>
              <a:t>19</a:t>
            </a:r>
            <a:r>
              <a:t>(2), 85. </a:t>
            </a:r>
            <a:r>
              <a:t>https://doi.org/10.5539/ijbm.v19n2p85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3919594" y="13287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References"/>
          <p:cNvSpPr txBox="1"/>
          <p:nvPr>
            <p:ph type="ctrTitle"/>
          </p:nvPr>
        </p:nvSpPr>
        <p:spPr>
          <a:xfrm>
            <a:off x="3463869" y="154426"/>
            <a:ext cx="18734661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377" name="Prado, H. A. D., Ferneda, E., Morais, L. C. R., Luiz, A. J. B., &amp; Matsura, E. (2013). On theEffectiveness of Candlestick Chart Analysis for the Brazilian Stock Market. Procedia Computer Science, 22, 1136–1145. https://doi.org/10.1016/j.procs.2013.09.200…"/>
          <p:cNvSpPr txBox="1"/>
          <p:nvPr/>
        </p:nvSpPr>
        <p:spPr>
          <a:xfrm>
            <a:off x="2739727" y="3056741"/>
            <a:ext cx="19929773" cy="992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Prado, H. A. D., Ferneda, E., Morais, L. C. R., Luiz, A. J. B., &amp; Matsura, E. (2013). On theEffectiveness of Candlestick Chart Analysis for the Brazilian Stock Market. </a:t>
            </a:r>
            <a:r>
              <a:rPr i="1"/>
              <a:t>Procedia Computer Science</a:t>
            </a:r>
            <a:r>
              <a:t>, </a:t>
            </a:r>
            <a:r>
              <a:rPr i="1"/>
              <a:t>22</a:t>
            </a:r>
            <a:r>
              <a:t>, 1136–1145. </a:t>
            </a:r>
            <a:r>
              <a:rPr u="sng">
                <a:hlinkClick r:id="rId3" invalidUrl="" action="" tgtFrame="" tooltip="" history="1" highlightClick="0" endSnd="0"/>
              </a:rPr>
              <a:t>https://doi.org/10.1016/j.procs.2013.09.200</a:t>
            </a: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Sehgal, S., &amp; Gupta, M. (2007). Tests of Technical Analysis in India. </a:t>
            </a:r>
            <a:r>
              <a:rPr i="1"/>
              <a:t>Vision: The Journal of Business Perspective</a:t>
            </a:r>
            <a:r>
              <a:t>, </a:t>
            </a:r>
            <a:r>
              <a:rPr i="1"/>
              <a:t>11</a:t>
            </a:r>
            <a:r>
              <a:t>(3), 11–23. </a:t>
            </a:r>
            <a:r>
              <a:rPr u="sng">
                <a:hlinkClick r:id="rId4" invalidUrl="" action="" tgtFrame="" tooltip="" history="1" highlightClick="0" endSnd="0"/>
              </a:rPr>
              <a:t>https://doi.org/10.1177/097226290701100303</a:t>
            </a:r>
          </a:p>
          <a:p>
            <a:pPr marL="698500" indent="-698500" defTabSz="825500">
              <a:lnSpc>
                <a:spcPct val="120000"/>
              </a:lnSpc>
              <a:spcBef>
                <a:spcPts val="0"/>
              </a:spcBef>
              <a:buClr>
                <a:schemeClr val="accent1">
                  <a:hueOff val="117587"/>
                  <a:lumOff val="-11400"/>
                </a:schemeClr>
              </a:buClr>
              <a:buSzPct val="100000"/>
              <a:buChar char="•"/>
              <a:defRPr sz="3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Shivaansh Tripathi. (2021). </a:t>
            </a:r>
            <a:r>
              <a:rPr i="1"/>
              <a:t>DOW THEORY</a:t>
            </a:r>
            <a:r>
              <a:t>. Unpublished. </a:t>
            </a:r>
            <a:r>
              <a:rPr u="sng">
                <a:hlinkClick r:id="rId5" invalidUrl="" action="" tgtFrame="" tooltip="" history="1" highlightClick="0" endSnd="0"/>
              </a:rPr>
              <a:t>https://doi.org/10.13140/RG.2.2.32348.31363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5621394" y="-11604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80" name="Raw Data"/>
          <p:cNvSpPr txBox="1"/>
          <p:nvPr>
            <p:ph type="ctrTitle"/>
          </p:nvPr>
        </p:nvSpPr>
        <p:spPr>
          <a:xfrm>
            <a:off x="3463869" y="154426"/>
            <a:ext cx="18734661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Raw Data</a:t>
            </a:r>
          </a:p>
        </p:txBody>
      </p:sp>
      <p:pic>
        <p:nvPicPr>
          <p:cNvPr id="381" name="CleanShot 2025-02-07 at 12 .46.44@2x.png" descr="CleanShot 2025-02-07 at 12 .46.44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96968" y="2857335"/>
            <a:ext cx="25377936" cy="128398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5621394" y="-11604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84" name="Candle’s Data"/>
          <p:cNvSpPr txBox="1"/>
          <p:nvPr>
            <p:ph type="ctrTitle"/>
          </p:nvPr>
        </p:nvSpPr>
        <p:spPr>
          <a:xfrm>
            <a:off x="3463869" y="154426"/>
            <a:ext cx="18734661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Candle’s Data</a:t>
            </a:r>
          </a:p>
        </p:txBody>
      </p:sp>
      <p:pic>
        <p:nvPicPr>
          <p:cNvPr id="385" name="CleanShot 2025-02-07 at 12 .48.56@2x.png" descr="CleanShot 2025-02-07 at 12 .48.56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97046" y="2927350"/>
            <a:ext cx="27013096" cy="134309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5621394" y="-11604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88" name="Data Under Analysis"/>
          <p:cNvSpPr txBox="1"/>
          <p:nvPr>
            <p:ph type="ctrTitle"/>
          </p:nvPr>
        </p:nvSpPr>
        <p:spPr>
          <a:xfrm>
            <a:off x="3463869" y="154426"/>
            <a:ext cx="18734661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Data Under Analysis</a:t>
            </a:r>
          </a:p>
        </p:txBody>
      </p:sp>
      <p:pic>
        <p:nvPicPr>
          <p:cNvPr id="389" name="CleanShot 2025-02-07 at 12 .51.04@2x.png" descr="CleanShot 2025-02-07 at 12 .51.04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228600" y="3083833"/>
            <a:ext cx="25619677" cy="134833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5621394" y="-11604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92" name="Code Structure"/>
          <p:cNvSpPr txBox="1"/>
          <p:nvPr>
            <p:ph type="ctrTitle"/>
          </p:nvPr>
        </p:nvSpPr>
        <p:spPr>
          <a:xfrm>
            <a:off x="3463869" y="154426"/>
            <a:ext cx="18734661" cy="2461037"/>
          </a:xfrm>
          <a:prstGeom prst="rect">
            <a:avLst/>
          </a:prstGeom>
        </p:spPr>
        <p:txBody>
          <a:bodyPr/>
          <a:lstStyle>
            <a:lvl1pPr algn="l"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Code Structure</a:t>
            </a:r>
          </a:p>
        </p:txBody>
      </p:sp>
      <p:pic>
        <p:nvPicPr>
          <p:cNvPr id="393" name="CleanShot 2025-02-07 at 12 .55.03@2x.png" descr="CleanShot 2025-02-07 at 12 .55.03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14300" y="2196365"/>
            <a:ext cx="24872929" cy="132023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5621394" y="-1160418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Questions  ❓"/>
          <p:cNvSpPr txBox="1"/>
          <p:nvPr>
            <p:ph type="ctrTitle"/>
          </p:nvPr>
        </p:nvSpPr>
        <p:spPr>
          <a:xfrm>
            <a:off x="-56643" y="-1326412"/>
            <a:ext cx="24497286" cy="17284812"/>
          </a:xfrm>
          <a:prstGeom prst="rect">
            <a:avLst/>
          </a:prstGeom>
        </p:spPr>
        <p:txBody>
          <a:bodyPr anchor="t"/>
          <a:lstStyle/>
          <a:p>
            <a:pPr defTabSz="2121354">
              <a:defRPr spc="-313" sz="1044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br/>
            <a:r>
              <a:t>Questions</a:t>
            </a:r>
            <a:br/>
            <a:br/>
            <a:r>
              <a:rPr spc="-2088" sz="69600"/>
              <a:t>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pasted-movie.png" descr="pasted-movie.png"/>
          <p:cNvPicPr>
            <a:picLocks noChangeAspect="1"/>
          </p:cNvPicPr>
          <p:nvPr/>
        </p:nvPicPr>
        <p:blipFill>
          <a:blip r:embed="rId2">
            <a:alphaModFix amt="8654"/>
            <a:extLst/>
          </a:blip>
          <a:stretch>
            <a:fillRect/>
          </a:stretch>
        </p:blipFill>
        <p:spPr>
          <a:xfrm>
            <a:off x="-5748394" y="998582"/>
            <a:ext cx="28742262" cy="17401464"/>
          </a:xfrm>
          <a:prstGeom prst="rect">
            <a:avLst/>
          </a:prstGeom>
          <a:ln w="12700">
            <a:miter lim="400000"/>
          </a:ln>
        </p:spPr>
      </p:pic>
      <p:sp>
        <p:nvSpPr>
          <p:cNvPr id="399" name="Thank You…"/>
          <p:cNvSpPr txBox="1"/>
          <p:nvPr>
            <p:ph type="ctrTitle"/>
          </p:nvPr>
        </p:nvSpPr>
        <p:spPr>
          <a:xfrm>
            <a:off x="-56643" y="-1326412"/>
            <a:ext cx="24497286" cy="17284812"/>
          </a:xfrm>
          <a:prstGeom prst="rect">
            <a:avLst/>
          </a:prstGeom>
        </p:spPr>
        <p:txBody>
          <a:bodyPr anchor="t"/>
          <a:lstStyle/>
          <a:p>
            <a:pPr>
              <a:defRPr spc="-360" sz="12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br/>
            <a:r>
              <a:t>Thank You</a:t>
            </a:r>
            <a:br/>
          </a:p>
          <a:p>
            <a:pPr>
              <a:defRPr spc="-1500" sz="50000">
                <a:gradFill flip="none" rotWithShape="1">
                  <a:gsLst>
                    <a:gs pos="0">
                      <a:schemeClr val="accent1">
                        <a:hueOff val="117587"/>
                        <a:lumOff val="-11400"/>
                      </a:schemeClr>
                    </a:gs>
                    <a:gs pos="100000">
                      <a:schemeClr val="accent1">
                        <a:hueOff val="381599"/>
                        <a:lumOff val="-17182"/>
                      </a:schemeClr>
                    </a:gs>
                  </a:gsLst>
                  <a:lin ang="3960000" scaled="0"/>
                </a:gra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